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25" d="100"/>
          <a:sy n="25" d="100"/>
        </p:scale>
        <p:origin x="-2024" y="-884"/>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F7B109D8-945E-477C-9894-BC1D073934B0}" type="datetimeFigureOut">
              <a:rPr lang="en-IN" smtClean="0"/>
              <a:t>14-09-2025</a:t>
            </a:fld>
            <a:endParaRPr lang="en-IN"/>
          </a:p>
        </p:txBody>
      </p:sp>
      <p:sp>
        <p:nvSpPr>
          <p:cNvPr id="4" name="Slide Image Placeholder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822325" y="6950075"/>
            <a:ext cx="6584950" cy="65833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D351DC65-1834-407F-8569-D6C7DFE44A23}" type="slidenum">
              <a:rPr lang="en-IN" smtClean="0"/>
              <a:t>‹#›</a:t>
            </a:fld>
            <a:endParaRPr lang="en-IN"/>
          </a:p>
        </p:txBody>
      </p:sp>
    </p:spTree>
    <p:extLst>
      <p:ext uri="{BB962C8B-B14F-4D97-AF65-F5344CB8AC3E}">
        <p14:creationId xmlns:p14="http://schemas.microsoft.com/office/powerpoint/2010/main" val="2673675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054429"/>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Why MSE/RMSE Penalize Large Errors More Heavily</a:t>
            </a:r>
            <a:endParaRPr lang="en-US" sz="4450" dirty="0"/>
          </a:p>
        </p:txBody>
      </p:sp>
      <p:sp>
        <p:nvSpPr>
          <p:cNvPr id="4" name="Text 1"/>
          <p:cNvSpPr/>
          <p:nvPr/>
        </p:nvSpPr>
        <p:spPr>
          <a:xfrm>
            <a:off x="6280190" y="4812149"/>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Understanding Error Metrics in Machine Learning</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166122" y="1647111"/>
            <a:ext cx="4298156" cy="354330"/>
          </a:xfrm>
          <a:prstGeom prst="rect">
            <a:avLst/>
          </a:prstGeom>
          <a:noFill/>
          <a:ln/>
        </p:spPr>
        <p:txBody>
          <a:bodyPr wrap="none" lIns="0" tIns="0" rIns="0" bIns="0" rtlCol="0" anchor="t"/>
          <a:lstStyle/>
          <a:p>
            <a:pPr marL="0" indent="0" algn="ctr">
              <a:lnSpc>
                <a:spcPts val="2750"/>
              </a:lnSpc>
              <a:buNone/>
            </a:pPr>
            <a:r>
              <a:rPr lang="en-US" sz="2200" dirty="0">
                <a:solidFill>
                  <a:srgbClr val="9C9283"/>
                </a:solidFill>
                <a:latin typeface="Noto Serif Medium" pitchFamily="34" charset="0"/>
                <a:ea typeface="Noto Serif Medium" pitchFamily="34" charset="-122"/>
                <a:cs typeface="Noto Serif Medium" pitchFamily="34" charset="-120"/>
              </a:rPr>
              <a:t>Navigating Predictive Accuracy</a:t>
            </a:r>
            <a:endParaRPr lang="en-US" sz="2200" dirty="0"/>
          </a:p>
        </p:txBody>
      </p:sp>
      <p:sp>
        <p:nvSpPr>
          <p:cNvPr id="3" name="Text 1"/>
          <p:cNvSpPr/>
          <p:nvPr/>
        </p:nvSpPr>
        <p:spPr>
          <a:xfrm>
            <a:off x="793790" y="2228255"/>
            <a:ext cx="11559540"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Why Do MSE/RMSE Amplify Large Errors?</a:t>
            </a:r>
            <a:endParaRPr lang="en-US" sz="4450" dirty="0"/>
          </a:p>
        </p:txBody>
      </p:sp>
      <p:sp>
        <p:nvSpPr>
          <p:cNvPr id="4" name="Text 2"/>
          <p:cNvSpPr/>
          <p:nvPr/>
        </p:nvSpPr>
        <p:spPr>
          <a:xfrm>
            <a:off x="793790" y="3277195"/>
            <a:ext cx="13042821" cy="1360527"/>
          </a:xfrm>
          <a:prstGeom prst="rect">
            <a:avLst/>
          </a:prstGeom>
          <a:noFill/>
          <a:ln/>
        </p:spPr>
        <p:txBody>
          <a:bodyPr wrap="square" lIns="0" tIns="0" rIns="0" bIns="0" rtlCol="0" anchor="t"/>
          <a:lstStyle/>
          <a:p>
            <a:pPr marL="0" indent="0" algn="l">
              <a:lnSpc>
                <a:spcPts val="3550"/>
              </a:lnSpc>
              <a:buNone/>
            </a:pPr>
            <a:r>
              <a:rPr lang="en-US" sz="2200" dirty="0">
                <a:solidFill>
                  <a:srgbClr val="4C4C4C"/>
                </a:solidFill>
                <a:latin typeface="Noto Serif" pitchFamily="34" charset="0"/>
                <a:ea typeface="Noto Serif" pitchFamily="34" charset="-122"/>
                <a:cs typeface="Noto Serif" pitchFamily="34" charset="-120"/>
              </a:rPr>
              <a:t>This presentation will explore the critical role of Mean Squared Error (MSE) and Root Mean Squared Error (RMSE) in regression analysis, focusing on their inherent tendency to penalize larger prediction inaccuracies.</a:t>
            </a:r>
            <a:endParaRPr lang="en-US" sz="2200" dirty="0"/>
          </a:p>
        </p:txBody>
      </p:sp>
      <p:sp>
        <p:nvSpPr>
          <p:cNvPr id="5" name="Text 3"/>
          <p:cNvSpPr/>
          <p:nvPr/>
        </p:nvSpPr>
        <p:spPr>
          <a:xfrm>
            <a:off x="793790" y="489287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What are MSE &amp; RMSE?</a:t>
            </a:r>
            <a:endParaRPr lang="en-US" sz="1750" dirty="0"/>
          </a:p>
        </p:txBody>
      </p:sp>
      <p:sp>
        <p:nvSpPr>
          <p:cNvPr id="6" name="Text 4"/>
          <p:cNvSpPr/>
          <p:nvPr/>
        </p:nvSpPr>
        <p:spPr>
          <a:xfrm>
            <a:off x="793790" y="533507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Where are they used?</a:t>
            </a:r>
            <a:endParaRPr lang="en-US" sz="1750" dirty="0"/>
          </a:p>
        </p:txBody>
      </p:sp>
      <p:sp>
        <p:nvSpPr>
          <p:cNvPr id="7" name="Text 5"/>
          <p:cNvSpPr/>
          <p:nvPr/>
        </p:nvSpPr>
        <p:spPr>
          <a:xfrm>
            <a:off x="793790" y="5777270"/>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Why do they penalize large errors?</a:t>
            </a:r>
            <a:endParaRPr lang="en-US" sz="1750" dirty="0"/>
          </a:p>
        </p:txBody>
      </p:sp>
      <p:sp>
        <p:nvSpPr>
          <p:cNvPr id="8" name="Text 6"/>
          <p:cNvSpPr/>
          <p:nvPr/>
        </p:nvSpPr>
        <p:spPr>
          <a:xfrm>
            <a:off x="793790" y="621946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Examples &amp; Applications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50620"/>
            <a:ext cx="6645593"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Defining MSE and RMSE</a:t>
            </a:r>
            <a:endParaRPr lang="en-US" sz="4450" dirty="0"/>
          </a:p>
        </p:txBody>
      </p:sp>
      <p:sp>
        <p:nvSpPr>
          <p:cNvPr id="3" name="Text 1"/>
          <p:cNvSpPr/>
          <p:nvPr/>
        </p:nvSpPr>
        <p:spPr>
          <a:xfrm>
            <a:off x="793790" y="2426375"/>
            <a:ext cx="4442936" cy="425291"/>
          </a:xfrm>
          <a:prstGeom prst="rect">
            <a:avLst/>
          </a:prstGeom>
          <a:noFill/>
          <a:ln/>
        </p:spPr>
        <p:txBody>
          <a:bodyPr wrap="none" lIns="0" tIns="0" rIns="0" bIns="0" rtlCol="0" anchor="t"/>
          <a:lstStyle/>
          <a:p>
            <a:pPr marL="0" indent="0" algn="l">
              <a:lnSpc>
                <a:spcPts val="3300"/>
              </a:lnSpc>
              <a:buNone/>
            </a:pPr>
            <a:r>
              <a:rPr lang="en-US" sz="2650" dirty="0">
                <a:solidFill>
                  <a:srgbClr val="3A3A3A"/>
                </a:solidFill>
                <a:latin typeface="Noto Serif Medium" pitchFamily="34" charset="0"/>
                <a:ea typeface="Noto Serif Medium" pitchFamily="34" charset="-122"/>
                <a:cs typeface="Noto Serif Medium" pitchFamily="34" charset="-120"/>
              </a:rPr>
              <a:t>Mean Squared Error (MSE)</a:t>
            </a:r>
            <a:endParaRPr lang="en-US" sz="2650" dirty="0"/>
          </a:p>
        </p:txBody>
      </p:sp>
      <p:sp>
        <p:nvSpPr>
          <p:cNvPr id="4" name="Text 2"/>
          <p:cNvSpPr/>
          <p:nvPr/>
        </p:nvSpPr>
        <p:spPr>
          <a:xfrm>
            <a:off x="793790" y="3138726"/>
            <a:ext cx="6244709" cy="619720"/>
          </a:xfrm>
          <a:prstGeom prst="rect">
            <a:avLst/>
          </a:prstGeom>
          <a:noFill/>
          <a:ln/>
        </p:spPr>
        <p:txBody>
          <a:bodyPr wrap="square" lIns="0" tIns="0" rIns="0" bIns="0" rtlCol="0" anchor="t"/>
          <a:lstStyle/>
          <a:p>
            <a:pPr marL="0" indent="0" algn="l">
              <a:lnSpc>
                <a:spcPts val="3200"/>
              </a:lnSpc>
              <a:buNone/>
            </a:pPr>
            <a:endParaRPr lang="en-US" sz="2000" dirty="0"/>
          </a:p>
        </p:txBody>
      </p:sp>
      <p:pic>
        <p:nvPicPr>
          <p:cNvPr id="5" name="Image 0" descr="preencoded.png"/>
          <p:cNvPicPr>
            <a:picLocks noChangeAspect="1"/>
          </p:cNvPicPr>
          <p:nvPr/>
        </p:nvPicPr>
        <p:blipFill>
          <a:blip r:embed="rId3"/>
          <a:stretch>
            <a:fillRect/>
          </a:stretch>
        </p:blipFill>
        <p:spPr>
          <a:xfrm>
            <a:off x="793790" y="3138726"/>
            <a:ext cx="6244709" cy="619720"/>
          </a:xfrm>
          <a:prstGeom prst="rect">
            <a:avLst/>
          </a:prstGeom>
        </p:spPr>
      </p:pic>
      <p:sp>
        <p:nvSpPr>
          <p:cNvPr id="6" name="Text 3"/>
          <p:cNvSpPr/>
          <p:nvPr/>
        </p:nvSpPr>
        <p:spPr>
          <a:xfrm>
            <a:off x="793790" y="4045506"/>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Average of the squared differences between predicted and actual values.</a:t>
            </a:r>
            <a:endParaRPr lang="en-US" sz="1750" dirty="0"/>
          </a:p>
        </p:txBody>
      </p:sp>
      <p:sp>
        <p:nvSpPr>
          <p:cNvPr id="7" name="Text 4"/>
          <p:cNvSpPr/>
          <p:nvPr/>
        </p:nvSpPr>
        <p:spPr>
          <a:xfrm>
            <a:off x="793790" y="4850606"/>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Squaring errors ensures all values are positive and </a:t>
            </a:r>
            <a:r>
              <a:rPr lang="en-US" sz="1750" dirty="0">
                <a:solidFill>
                  <a:srgbClr val="6F7F71"/>
                </a:solidFill>
                <a:latin typeface="Noto Serif" pitchFamily="34" charset="0"/>
                <a:ea typeface="Noto Serif" pitchFamily="34" charset="-122"/>
                <a:cs typeface="Noto Serif" pitchFamily="34" charset="-120"/>
              </a:rPr>
              <a:t>emphasizes larger errors</a:t>
            </a:r>
            <a:r>
              <a:rPr lang="en-US" sz="1750" dirty="0">
                <a:solidFill>
                  <a:srgbClr val="4C4C4C"/>
                </a:solidFill>
                <a:latin typeface="Noto Serif" pitchFamily="34" charset="0"/>
                <a:ea typeface="Noto Serif" pitchFamily="34" charset="-122"/>
                <a:cs typeface="Noto Serif" pitchFamily="34" charset="-120"/>
              </a:rPr>
              <a:t>.</a:t>
            </a:r>
            <a:endParaRPr lang="en-US" sz="1750" dirty="0"/>
          </a:p>
        </p:txBody>
      </p:sp>
      <p:sp>
        <p:nvSpPr>
          <p:cNvPr id="8" name="Text 5"/>
          <p:cNvSpPr/>
          <p:nvPr/>
        </p:nvSpPr>
        <p:spPr>
          <a:xfrm>
            <a:off x="793790" y="565570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Unit is the square of the target variable's unit.</a:t>
            </a:r>
            <a:endParaRPr lang="en-US" sz="1750" dirty="0"/>
          </a:p>
        </p:txBody>
      </p:sp>
      <p:sp>
        <p:nvSpPr>
          <p:cNvPr id="9" name="Text 6"/>
          <p:cNvSpPr/>
          <p:nvPr/>
        </p:nvSpPr>
        <p:spPr>
          <a:xfrm>
            <a:off x="7599521" y="2426375"/>
            <a:ext cx="5512713" cy="425291"/>
          </a:xfrm>
          <a:prstGeom prst="rect">
            <a:avLst/>
          </a:prstGeom>
          <a:noFill/>
          <a:ln/>
        </p:spPr>
        <p:txBody>
          <a:bodyPr wrap="none" lIns="0" tIns="0" rIns="0" bIns="0" rtlCol="0" anchor="t"/>
          <a:lstStyle/>
          <a:p>
            <a:pPr marL="0" indent="0" algn="l">
              <a:lnSpc>
                <a:spcPts val="3300"/>
              </a:lnSpc>
              <a:buNone/>
            </a:pPr>
            <a:r>
              <a:rPr lang="en-US" sz="2650" dirty="0">
                <a:solidFill>
                  <a:srgbClr val="3A3A3A"/>
                </a:solidFill>
                <a:latin typeface="Noto Serif Medium" pitchFamily="34" charset="0"/>
                <a:ea typeface="Noto Serif Medium" pitchFamily="34" charset="-122"/>
                <a:cs typeface="Noto Serif Medium" pitchFamily="34" charset="-120"/>
              </a:rPr>
              <a:t>Root Mean Squared Error (RMSE)</a:t>
            </a:r>
            <a:endParaRPr lang="en-US" sz="2650" dirty="0"/>
          </a:p>
        </p:txBody>
      </p:sp>
      <p:sp>
        <p:nvSpPr>
          <p:cNvPr id="10" name="Text 7"/>
          <p:cNvSpPr/>
          <p:nvPr/>
        </p:nvSpPr>
        <p:spPr>
          <a:xfrm>
            <a:off x="7599521" y="3138726"/>
            <a:ext cx="6244709" cy="412552"/>
          </a:xfrm>
          <a:prstGeom prst="rect">
            <a:avLst/>
          </a:prstGeom>
          <a:noFill/>
          <a:ln/>
        </p:spPr>
        <p:txBody>
          <a:bodyPr wrap="none" lIns="0" tIns="0" rIns="0" bIns="0" rtlCol="0" anchor="t"/>
          <a:lstStyle/>
          <a:p>
            <a:pPr marL="0" indent="0" algn="l">
              <a:lnSpc>
                <a:spcPts val="3200"/>
              </a:lnSpc>
              <a:buNone/>
            </a:pPr>
            <a:endParaRPr lang="en-US" sz="2000" dirty="0"/>
          </a:p>
        </p:txBody>
      </p:sp>
      <p:pic>
        <p:nvPicPr>
          <p:cNvPr id="11" name="Image 1" descr="preencoded.png"/>
          <p:cNvPicPr>
            <a:picLocks noChangeAspect="1"/>
          </p:cNvPicPr>
          <p:nvPr/>
        </p:nvPicPr>
        <p:blipFill>
          <a:blip r:embed="rId4"/>
          <a:stretch>
            <a:fillRect/>
          </a:stretch>
        </p:blipFill>
        <p:spPr>
          <a:xfrm>
            <a:off x="7599521" y="3138726"/>
            <a:ext cx="6244709" cy="412552"/>
          </a:xfrm>
          <a:prstGeom prst="rect">
            <a:avLst/>
          </a:prstGeom>
        </p:spPr>
      </p:pic>
      <p:sp>
        <p:nvSpPr>
          <p:cNvPr id="12" name="Text 8"/>
          <p:cNvSpPr/>
          <p:nvPr/>
        </p:nvSpPr>
        <p:spPr>
          <a:xfrm>
            <a:off x="7599521" y="383833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Square root of the MSE.</a:t>
            </a:r>
            <a:endParaRPr lang="en-US" sz="1750" dirty="0"/>
          </a:p>
        </p:txBody>
      </p:sp>
      <p:sp>
        <p:nvSpPr>
          <p:cNvPr id="13" name="Text 9"/>
          <p:cNvSpPr/>
          <p:nvPr/>
        </p:nvSpPr>
        <p:spPr>
          <a:xfrm>
            <a:off x="7599521" y="4280535"/>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A8B8A2"/>
                </a:solidFill>
                <a:latin typeface="Noto Serif" pitchFamily="34" charset="0"/>
                <a:ea typeface="Noto Serif" pitchFamily="34" charset="-122"/>
                <a:cs typeface="Noto Serif" pitchFamily="34" charset="-120"/>
              </a:rPr>
              <a:t>Returns the error to the original units</a:t>
            </a:r>
            <a:r>
              <a:rPr lang="en-US" sz="1750" dirty="0">
                <a:solidFill>
                  <a:srgbClr val="4C4C4C"/>
                </a:solidFill>
                <a:latin typeface="Noto Serif" pitchFamily="34" charset="0"/>
                <a:ea typeface="Noto Serif" pitchFamily="34" charset="-122"/>
                <a:cs typeface="Noto Serif" pitchFamily="34" charset="-120"/>
              </a:rPr>
              <a:t> of the target variable.</a:t>
            </a:r>
            <a:endParaRPr lang="en-US" sz="1750" dirty="0"/>
          </a:p>
        </p:txBody>
      </p:sp>
      <p:sp>
        <p:nvSpPr>
          <p:cNvPr id="14" name="Text 10"/>
          <p:cNvSpPr/>
          <p:nvPr/>
        </p:nvSpPr>
        <p:spPr>
          <a:xfrm>
            <a:off x="7599521" y="5085636"/>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Easier to interpret and compare directly with the data.</a:t>
            </a:r>
            <a:endParaRPr lang="en-US" sz="1750" dirty="0"/>
          </a:p>
        </p:txBody>
      </p:sp>
      <p:sp>
        <p:nvSpPr>
          <p:cNvPr id="15" name="Text 11"/>
          <p:cNvSpPr/>
          <p:nvPr/>
        </p:nvSpPr>
        <p:spPr>
          <a:xfrm>
            <a:off x="793790" y="635305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Both metrics quantify the average magnitude of errors, but RMSE provides a more interpretable value in the context of the original data.</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33" y="389811"/>
            <a:ext cx="6994684" cy="398621"/>
          </a:xfrm>
          <a:prstGeom prst="rect">
            <a:avLst/>
          </a:prstGeom>
          <a:noFill/>
          <a:ln/>
        </p:spPr>
        <p:txBody>
          <a:bodyPr wrap="none" lIns="0" tIns="0" rIns="0" bIns="0" rtlCol="0" anchor="t"/>
          <a:lstStyle/>
          <a:p>
            <a:pPr marL="0" indent="0" algn="l">
              <a:lnSpc>
                <a:spcPts val="3100"/>
              </a:lnSpc>
              <a:buNone/>
            </a:pPr>
            <a:r>
              <a:rPr lang="en-US" sz="2500" dirty="0">
                <a:solidFill>
                  <a:srgbClr val="3A3A3A"/>
                </a:solidFill>
                <a:latin typeface="Noto Serif Medium" pitchFamily="34" charset="0"/>
                <a:ea typeface="Noto Serif Medium" pitchFamily="34" charset="-122"/>
                <a:cs typeface="Noto Serif Medium" pitchFamily="34" charset="-120"/>
              </a:rPr>
              <a:t>Application Scope: Regression Problems Only</a:t>
            </a:r>
            <a:endParaRPr lang="en-US" sz="2500" dirty="0"/>
          </a:p>
        </p:txBody>
      </p:sp>
      <p:sp>
        <p:nvSpPr>
          <p:cNvPr id="3" name="Text 1"/>
          <p:cNvSpPr/>
          <p:nvPr/>
        </p:nvSpPr>
        <p:spPr>
          <a:xfrm>
            <a:off x="496133" y="1107281"/>
            <a:ext cx="2712244" cy="326469"/>
          </a:xfrm>
          <a:prstGeom prst="rect">
            <a:avLst/>
          </a:prstGeom>
          <a:noFill/>
          <a:ln/>
        </p:spPr>
        <p:txBody>
          <a:bodyPr wrap="none" lIns="0" tIns="0" rIns="0" bIns="0" rtlCol="0" anchor="t"/>
          <a:lstStyle/>
          <a:p>
            <a:pPr marL="0" indent="0" algn="l">
              <a:lnSpc>
                <a:spcPts val="2500"/>
              </a:lnSpc>
              <a:buNone/>
            </a:pPr>
            <a:r>
              <a:rPr lang="en-US" sz="2000" dirty="0">
                <a:solidFill>
                  <a:srgbClr val="3A3A3A"/>
                </a:solidFill>
                <a:latin typeface="Noto Serif Medium" pitchFamily="34" charset="0"/>
                <a:ea typeface="Noto Serif Medium" pitchFamily="34" charset="-122"/>
                <a:cs typeface="Noto Serif Medium" pitchFamily="34" charset="-120"/>
              </a:rPr>
              <a:t>Used in Regression </a:t>
            </a:r>
            <a:r>
              <a:rPr lang="en-US" sz="2000" dirty="0">
                <a:solidFill>
                  <a:srgbClr val="000000"/>
                </a:solidFill>
                <a:latin typeface="Noto Serif Medium" pitchFamily="34" charset="0"/>
                <a:ea typeface="Noto Serif Medium" pitchFamily="34" charset="-122"/>
                <a:cs typeface="Noto Serif Medium" pitchFamily="34" charset="-120"/>
              </a:rPr>
              <a:t>✅</a:t>
            </a:r>
            <a:endParaRPr lang="en-US" sz="2000" dirty="0"/>
          </a:p>
        </p:txBody>
      </p:sp>
      <p:sp>
        <p:nvSpPr>
          <p:cNvPr id="4" name="Text 2"/>
          <p:cNvSpPr/>
          <p:nvPr/>
        </p:nvSpPr>
        <p:spPr>
          <a:xfrm>
            <a:off x="496133" y="1561267"/>
            <a:ext cx="6663452" cy="408384"/>
          </a:xfrm>
          <a:prstGeom prst="rect">
            <a:avLst/>
          </a:prstGeom>
          <a:noFill/>
          <a:ln/>
        </p:spPr>
        <p:txBody>
          <a:bodyPr wrap="square" lIns="0" tIns="0" rIns="0" bIns="0" rtlCol="0" anchor="t"/>
          <a:lstStyle/>
          <a:p>
            <a:pPr marL="0" indent="0" algn="l">
              <a:lnSpc>
                <a:spcPts val="1600"/>
              </a:lnSpc>
              <a:buNone/>
            </a:pPr>
            <a:r>
              <a:rPr lang="en-US" sz="1000" dirty="0">
                <a:solidFill>
                  <a:srgbClr val="4C4C4C"/>
                </a:solidFill>
                <a:latin typeface="Noto Serif" pitchFamily="34" charset="0"/>
                <a:ea typeface="Noto Serif" pitchFamily="34" charset="-122"/>
                <a:cs typeface="Noto Serif" pitchFamily="34" charset="-120"/>
              </a:rPr>
              <a:t>MSE and RMSE are </a:t>
            </a:r>
            <a:r>
              <a:rPr lang="en-US" sz="1000" dirty="0">
                <a:solidFill>
                  <a:srgbClr val="6F7F71"/>
                </a:solidFill>
                <a:latin typeface="Noto Serif" pitchFamily="34" charset="0"/>
                <a:ea typeface="Noto Serif" pitchFamily="34" charset="-122"/>
                <a:cs typeface="Noto Serif" pitchFamily="34" charset="-120"/>
              </a:rPr>
              <a:t>exclusively used for regression tasks</a:t>
            </a:r>
            <a:r>
              <a:rPr lang="en-US" sz="1000" dirty="0">
                <a:solidFill>
                  <a:srgbClr val="4C4C4C"/>
                </a:solidFill>
                <a:latin typeface="Noto Serif" pitchFamily="34" charset="0"/>
                <a:ea typeface="Noto Serif" pitchFamily="34" charset="-122"/>
                <a:cs typeface="Noto Serif" pitchFamily="34" charset="-120"/>
              </a:rPr>
              <a:t>, where the goal is to predict continuous numerical values.</a:t>
            </a:r>
            <a:endParaRPr lang="en-US" sz="1000" dirty="0"/>
          </a:p>
        </p:txBody>
      </p:sp>
      <p:sp>
        <p:nvSpPr>
          <p:cNvPr id="5" name="Text 3"/>
          <p:cNvSpPr/>
          <p:nvPr/>
        </p:nvSpPr>
        <p:spPr>
          <a:xfrm>
            <a:off x="496133" y="2084427"/>
            <a:ext cx="6663452" cy="204192"/>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4C4C4C"/>
                </a:solidFill>
                <a:latin typeface="Noto Serif" pitchFamily="34" charset="0"/>
                <a:ea typeface="Noto Serif" pitchFamily="34" charset="-122"/>
                <a:cs typeface="Noto Serif" pitchFamily="34" charset="-120"/>
              </a:rPr>
              <a:t>Predicting house </a:t>
            </a:r>
            <a:r>
              <a:rPr lang="en-US" sz="1000" b="1" dirty="0">
                <a:solidFill>
                  <a:srgbClr val="4C4C4C"/>
                </a:solidFill>
                <a:latin typeface="Noto Serif" pitchFamily="34" charset="0"/>
                <a:ea typeface="Noto Serif" pitchFamily="34" charset="-122"/>
                <a:cs typeface="Noto Serif" pitchFamily="34" charset="-120"/>
              </a:rPr>
              <a:t>prices</a:t>
            </a:r>
            <a:endParaRPr lang="en-US" sz="1000" dirty="0"/>
          </a:p>
        </p:txBody>
      </p:sp>
      <p:sp>
        <p:nvSpPr>
          <p:cNvPr id="6" name="Text 4"/>
          <p:cNvSpPr/>
          <p:nvPr/>
        </p:nvSpPr>
        <p:spPr>
          <a:xfrm>
            <a:off x="496133" y="2333268"/>
            <a:ext cx="6663452" cy="204192"/>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4C4C4C"/>
                </a:solidFill>
                <a:latin typeface="Noto Serif" pitchFamily="34" charset="0"/>
                <a:ea typeface="Noto Serif" pitchFamily="34" charset="-122"/>
                <a:cs typeface="Noto Serif" pitchFamily="34" charset="-120"/>
              </a:rPr>
              <a:t>Estimating delivery </a:t>
            </a:r>
            <a:r>
              <a:rPr lang="en-US" sz="1000" b="1" dirty="0">
                <a:solidFill>
                  <a:srgbClr val="4C4C4C"/>
                </a:solidFill>
                <a:latin typeface="Noto Serif" pitchFamily="34" charset="0"/>
                <a:ea typeface="Noto Serif" pitchFamily="34" charset="-122"/>
                <a:cs typeface="Noto Serif" pitchFamily="34" charset="-120"/>
              </a:rPr>
              <a:t>times</a:t>
            </a:r>
            <a:endParaRPr lang="en-US" sz="1000" dirty="0"/>
          </a:p>
        </p:txBody>
      </p:sp>
      <p:sp>
        <p:nvSpPr>
          <p:cNvPr id="7" name="Text 5"/>
          <p:cNvSpPr/>
          <p:nvPr/>
        </p:nvSpPr>
        <p:spPr>
          <a:xfrm>
            <a:off x="496133" y="2582108"/>
            <a:ext cx="6663452" cy="204192"/>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4C4C4C"/>
                </a:solidFill>
                <a:latin typeface="Noto Serif" pitchFamily="34" charset="0"/>
                <a:ea typeface="Noto Serif" pitchFamily="34" charset="-122"/>
                <a:cs typeface="Noto Serif" pitchFamily="34" charset="-120"/>
              </a:rPr>
              <a:t>Forecasting </a:t>
            </a:r>
            <a:r>
              <a:rPr lang="en-US" sz="1000" b="1" dirty="0">
                <a:solidFill>
                  <a:srgbClr val="4C4C4C"/>
                </a:solidFill>
                <a:latin typeface="Noto Serif" pitchFamily="34" charset="0"/>
                <a:ea typeface="Noto Serif" pitchFamily="34" charset="-122"/>
                <a:cs typeface="Noto Serif" pitchFamily="34" charset="-120"/>
              </a:rPr>
              <a:t>temperatures</a:t>
            </a:r>
            <a:endParaRPr lang="en-US" sz="1000" dirty="0"/>
          </a:p>
        </p:txBody>
      </p:sp>
      <p:sp>
        <p:nvSpPr>
          <p:cNvPr id="8" name="Text 6"/>
          <p:cNvSpPr/>
          <p:nvPr/>
        </p:nvSpPr>
        <p:spPr>
          <a:xfrm>
            <a:off x="496133" y="2830949"/>
            <a:ext cx="6663452" cy="204192"/>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4C4C4C"/>
                </a:solidFill>
                <a:latin typeface="Noto Serif" pitchFamily="34" charset="0"/>
                <a:ea typeface="Noto Serif" pitchFamily="34" charset="-122"/>
                <a:cs typeface="Noto Serif" pitchFamily="34" charset="-120"/>
              </a:rPr>
              <a:t>Predicting product </a:t>
            </a:r>
            <a:r>
              <a:rPr lang="en-US" sz="1000" b="1" dirty="0">
                <a:solidFill>
                  <a:srgbClr val="4C4C4C"/>
                </a:solidFill>
                <a:latin typeface="Noto Serif" pitchFamily="34" charset="0"/>
                <a:ea typeface="Noto Serif" pitchFamily="34" charset="-122"/>
                <a:cs typeface="Noto Serif" pitchFamily="34" charset="-120"/>
              </a:rPr>
              <a:t>demand</a:t>
            </a:r>
            <a:endParaRPr lang="en-US" sz="1000" dirty="0"/>
          </a:p>
        </p:txBody>
      </p:sp>
      <p:pic>
        <p:nvPicPr>
          <p:cNvPr id="9" name="Image 0" descr="preencoded.png"/>
          <p:cNvPicPr>
            <a:picLocks noChangeAspect="1"/>
          </p:cNvPicPr>
          <p:nvPr/>
        </p:nvPicPr>
        <p:blipFill>
          <a:blip r:embed="rId3"/>
          <a:stretch>
            <a:fillRect/>
          </a:stretch>
        </p:blipFill>
        <p:spPr>
          <a:xfrm>
            <a:off x="496133" y="3178613"/>
            <a:ext cx="5997059" cy="4847787"/>
          </a:xfrm>
          <a:prstGeom prst="rect">
            <a:avLst/>
          </a:prstGeom>
        </p:spPr>
      </p:pic>
      <p:sp>
        <p:nvSpPr>
          <p:cNvPr id="10" name="Text 7"/>
          <p:cNvSpPr/>
          <p:nvPr/>
        </p:nvSpPr>
        <p:spPr>
          <a:xfrm>
            <a:off x="7478435" y="1107281"/>
            <a:ext cx="2981563" cy="326469"/>
          </a:xfrm>
          <a:prstGeom prst="rect">
            <a:avLst/>
          </a:prstGeom>
          <a:noFill/>
          <a:ln/>
        </p:spPr>
        <p:txBody>
          <a:bodyPr wrap="none" lIns="0" tIns="0" rIns="0" bIns="0" rtlCol="0" anchor="t"/>
          <a:lstStyle/>
          <a:p>
            <a:pPr marL="0" indent="0" algn="l">
              <a:lnSpc>
                <a:spcPts val="2500"/>
              </a:lnSpc>
              <a:buNone/>
            </a:pPr>
            <a:r>
              <a:rPr lang="en-US" sz="2000" dirty="0">
                <a:solidFill>
                  <a:srgbClr val="3A3A3A"/>
                </a:solidFill>
                <a:latin typeface="Noto Serif Medium" pitchFamily="34" charset="0"/>
                <a:ea typeface="Noto Serif Medium" pitchFamily="34" charset="-122"/>
                <a:cs typeface="Noto Serif Medium" pitchFamily="34" charset="-120"/>
              </a:rPr>
              <a:t>Not for Classification </a:t>
            </a:r>
            <a:r>
              <a:rPr lang="en-US" sz="2000" dirty="0">
                <a:solidFill>
                  <a:srgbClr val="000000"/>
                </a:solidFill>
                <a:latin typeface="Noto Serif Medium" pitchFamily="34" charset="0"/>
                <a:ea typeface="Noto Serif Medium" pitchFamily="34" charset="-122"/>
                <a:cs typeface="Noto Serif Medium" pitchFamily="34" charset="-120"/>
              </a:rPr>
              <a:t>❌</a:t>
            </a:r>
            <a:endParaRPr lang="en-US" sz="2000" dirty="0"/>
          </a:p>
        </p:txBody>
      </p:sp>
      <p:sp>
        <p:nvSpPr>
          <p:cNvPr id="11" name="Text 8"/>
          <p:cNvSpPr/>
          <p:nvPr/>
        </p:nvSpPr>
        <p:spPr>
          <a:xfrm>
            <a:off x="7478435" y="1561267"/>
            <a:ext cx="6663452" cy="408384"/>
          </a:xfrm>
          <a:prstGeom prst="rect">
            <a:avLst/>
          </a:prstGeom>
          <a:noFill/>
          <a:ln/>
        </p:spPr>
        <p:txBody>
          <a:bodyPr wrap="square" lIns="0" tIns="0" rIns="0" bIns="0" rtlCol="0" anchor="t"/>
          <a:lstStyle/>
          <a:p>
            <a:pPr marL="0" indent="0" algn="l">
              <a:lnSpc>
                <a:spcPts val="1600"/>
              </a:lnSpc>
              <a:buNone/>
            </a:pPr>
            <a:r>
              <a:rPr lang="en-US" sz="1000" dirty="0">
                <a:solidFill>
                  <a:srgbClr val="4C4C4C"/>
                </a:solidFill>
                <a:latin typeface="Noto Serif" pitchFamily="34" charset="0"/>
                <a:ea typeface="Noto Serif" pitchFamily="34" charset="-122"/>
                <a:cs typeface="Noto Serif" pitchFamily="34" charset="-120"/>
              </a:rPr>
              <a:t>These metrics are </a:t>
            </a:r>
            <a:r>
              <a:rPr lang="en-US" sz="1000" dirty="0">
                <a:solidFill>
                  <a:srgbClr val="9C9283"/>
                </a:solidFill>
                <a:latin typeface="Noto Serif" pitchFamily="34" charset="0"/>
                <a:ea typeface="Noto Serif" pitchFamily="34" charset="-122"/>
                <a:cs typeface="Noto Serif" pitchFamily="34" charset="-120"/>
              </a:rPr>
              <a:t>inappropriate for classification problems</a:t>
            </a:r>
            <a:r>
              <a:rPr lang="en-US" sz="1000" dirty="0">
                <a:solidFill>
                  <a:srgbClr val="4C4C4C"/>
                </a:solidFill>
                <a:latin typeface="Noto Serif" pitchFamily="34" charset="0"/>
                <a:ea typeface="Noto Serif" pitchFamily="34" charset="-122"/>
                <a:cs typeface="Noto Serif" pitchFamily="34" charset="-120"/>
              </a:rPr>
              <a:t>, which involve predicting discrete categories or labels.</a:t>
            </a:r>
            <a:endParaRPr lang="en-US" sz="1000" dirty="0"/>
          </a:p>
        </p:txBody>
      </p:sp>
      <p:sp>
        <p:nvSpPr>
          <p:cNvPr id="12" name="Text 9"/>
          <p:cNvSpPr/>
          <p:nvPr/>
        </p:nvSpPr>
        <p:spPr>
          <a:xfrm>
            <a:off x="7478435" y="2084427"/>
            <a:ext cx="6663452" cy="204192"/>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4C4C4C"/>
                </a:solidFill>
                <a:latin typeface="Noto Serif" pitchFamily="34" charset="0"/>
                <a:ea typeface="Noto Serif" pitchFamily="34" charset="-122"/>
                <a:cs typeface="Noto Serif" pitchFamily="34" charset="-120"/>
              </a:rPr>
              <a:t>Categorical labels (e.g., spam/not spam, disease/no disease)</a:t>
            </a:r>
            <a:endParaRPr lang="en-US" sz="1000" dirty="0"/>
          </a:p>
        </p:txBody>
      </p:sp>
      <p:sp>
        <p:nvSpPr>
          <p:cNvPr id="13" name="Text 10"/>
          <p:cNvSpPr/>
          <p:nvPr/>
        </p:nvSpPr>
        <p:spPr>
          <a:xfrm>
            <a:off x="7478435" y="2333268"/>
            <a:ext cx="6663452" cy="204192"/>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4C4C4C"/>
                </a:solidFill>
                <a:latin typeface="Noto Serif" pitchFamily="34" charset="0"/>
                <a:ea typeface="Noto Serif" pitchFamily="34" charset="-122"/>
                <a:cs typeface="Noto Serif" pitchFamily="34" charset="-120"/>
              </a:rPr>
              <a:t>Metrics like accuracy, precision, and recall are used instead.</a:t>
            </a:r>
            <a:endParaRPr lang="en-US" sz="1000" dirty="0"/>
          </a:p>
        </p:txBody>
      </p:sp>
      <p:pic>
        <p:nvPicPr>
          <p:cNvPr id="14" name="Image 1" descr="preencoded.png"/>
          <p:cNvPicPr>
            <a:picLocks noChangeAspect="1"/>
          </p:cNvPicPr>
          <p:nvPr/>
        </p:nvPicPr>
        <p:blipFill>
          <a:blip r:embed="rId4"/>
          <a:stretch>
            <a:fillRect/>
          </a:stretch>
        </p:blipFill>
        <p:spPr>
          <a:xfrm>
            <a:off x="7811631" y="2029341"/>
            <a:ext cx="5997059" cy="59970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79133"/>
            <a:ext cx="13042821" cy="1275874"/>
          </a:xfrm>
          <a:prstGeom prst="rect">
            <a:avLst/>
          </a:prstGeom>
          <a:noFill/>
          <a:ln/>
        </p:spPr>
        <p:txBody>
          <a:bodyPr wrap="square" lIns="0" tIns="0" rIns="0" bIns="0" rtlCol="0" anchor="t"/>
          <a:lstStyle/>
          <a:p>
            <a:pPr marL="0" indent="0" algn="l">
              <a:lnSpc>
                <a:spcPts val="5000"/>
              </a:lnSpc>
              <a:buNone/>
            </a:pPr>
            <a:r>
              <a:rPr lang="en-US" sz="4000" dirty="0">
                <a:solidFill>
                  <a:srgbClr val="3A3A3A"/>
                </a:solidFill>
                <a:latin typeface="Noto Serif Medium" pitchFamily="34" charset="0"/>
                <a:ea typeface="Noto Serif Medium" pitchFamily="34" charset="-122"/>
                <a:cs typeface="Noto Serif Medium" pitchFamily="34" charset="-120"/>
              </a:rPr>
              <a:t>The Power of Squaring: Why Large Errors are Penalized</a:t>
            </a:r>
            <a:endParaRPr lang="en-US" sz="4000" dirty="0"/>
          </a:p>
        </p:txBody>
      </p:sp>
      <p:sp>
        <p:nvSpPr>
          <p:cNvPr id="3" name="Text 1"/>
          <p:cNvSpPr/>
          <p:nvPr/>
        </p:nvSpPr>
        <p:spPr>
          <a:xfrm>
            <a:off x="1099899" y="2669381"/>
            <a:ext cx="12736711" cy="1020604"/>
          </a:xfrm>
          <a:prstGeom prst="rect">
            <a:avLst/>
          </a:prstGeom>
          <a:noFill/>
          <a:ln/>
        </p:spPr>
        <p:txBody>
          <a:bodyPr wrap="square" lIns="0" tIns="0" rIns="0" bIns="0" rtlCol="0" anchor="t"/>
          <a:lstStyle/>
          <a:p>
            <a:pPr marL="0" indent="0" algn="l">
              <a:lnSpc>
                <a:spcPts val="4000"/>
              </a:lnSpc>
              <a:buNone/>
            </a:pPr>
            <a:r>
              <a:rPr lang="en-US" sz="3200" dirty="0">
                <a:solidFill>
                  <a:srgbClr val="3A3A3A"/>
                </a:solidFill>
                <a:latin typeface="Noto Serif Medium" pitchFamily="34" charset="0"/>
                <a:ea typeface="Noto Serif Medium" pitchFamily="34" charset="-122"/>
                <a:cs typeface="Noto Serif Medium" pitchFamily="34" charset="-120"/>
              </a:rPr>
              <a:t>"Penalizing large errors" means bigger mistakes incur a disproportionately higher cost than smaller ones.</a:t>
            </a:r>
            <a:endParaRPr lang="en-US" sz="3200" dirty="0"/>
          </a:p>
        </p:txBody>
      </p:sp>
      <p:sp>
        <p:nvSpPr>
          <p:cNvPr id="4" name="Shape 2"/>
          <p:cNvSpPr/>
          <p:nvPr/>
        </p:nvSpPr>
        <p:spPr>
          <a:xfrm>
            <a:off x="793790" y="2363272"/>
            <a:ext cx="22860" cy="1632823"/>
          </a:xfrm>
          <a:prstGeom prst="rect">
            <a:avLst/>
          </a:prstGeom>
          <a:solidFill>
            <a:srgbClr val="9C9283"/>
          </a:solidFill>
          <a:ln/>
        </p:spPr>
      </p:sp>
      <p:pic>
        <p:nvPicPr>
          <p:cNvPr id="5" name="Image 0" descr="preencoded.png"/>
          <p:cNvPicPr>
            <a:picLocks noChangeAspect="1"/>
          </p:cNvPicPr>
          <p:nvPr/>
        </p:nvPicPr>
        <p:blipFill>
          <a:blip r:embed="rId3"/>
          <a:stretch>
            <a:fillRect/>
          </a:stretch>
        </p:blipFill>
        <p:spPr>
          <a:xfrm>
            <a:off x="793790" y="4225647"/>
            <a:ext cx="4347567" cy="816531"/>
          </a:xfrm>
          <a:prstGeom prst="rect">
            <a:avLst/>
          </a:prstGeom>
        </p:spPr>
      </p:pic>
      <p:sp>
        <p:nvSpPr>
          <p:cNvPr id="6" name="Text 3"/>
          <p:cNvSpPr/>
          <p:nvPr/>
        </p:nvSpPr>
        <p:spPr>
          <a:xfrm>
            <a:off x="997863" y="5246251"/>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C"/>
                </a:solidFill>
                <a:latin typeface="Noto Serif Medium" pitchFamily="34" charset="0"/>
                <a:ea typeface="Noto Serif Medium" pitchFamily="34" charset="-122"/>
                <a:cs typeface="Noto Serif Medium" pitchFamily="34" charset="-120"/>
              </a:rPr>
              <a:t>Small Error</a:t>
            </a:r>
            <a:endParaRPr lang="en-US" sz="2000" dirty="0"/>
          </a:p>
        </p:txBody>
      </p:sp>
      <p:sp>
        <p:nvSpPr>
          <p:cNvPr id="7" name="Text 4"/>
          <p:cNvSpPr/>
          <p:nvPr/>
        </p:nvSpPr>
        <p:spPr>
          <a:xfrm>
            <a:off x="997863" y="5687497"/>
            <a:ext cx="3939421" cy="326708"/>
          </a:xfrm>
          <a:prstGeom prst="rect">
            <a:avLst/>
          </a:prstGeom>
          <a:noFill/>
          <a:ln/>
        </p:spPr>
        <p:txBody>
          <a:bodyPr wrap="none" lIns="0" tIns="0" rIns="0" bIns="0" rtlCol="0" anchor="t"/>
          <a:lstStyle/>
          <a:p>
            <a:pPr marL="0" indent="0" algn="l">
              <a:lnSpc>
                <a:spcPts val="2550"/>
              </a:lnSpc>
              <a:buNone/>
            </a:pPr>
            <a:r>
              <a:rPr lang="en-US" sz="1600" dirty="0">
                <a:solidFill>
                  <a:srgbClr val="4C4C4C"/>
                </a:solidFill>
                <a:latin typeface="Noto Serif" pitchFamily="34" charset="0"/>
                <a:ea typeface="Noto Serif" pitchFamily="34" charset="-122"/>
                <a:cs typeface="Noto Serif" pitchFamily="34" charset="-120"/>
              </a:rPr>
              <a:t>If the error is </a:t>
            </a:r>
            <a:r>
              <a:rPr lang="en-US" sz="1600" dirty="0">
                <a:solidFill>
                  <a:srgbClr val="A8B8A2"/>
                </a:solidFill>
                <a:latin typeface="Noto Serif" pitchFamily="34" charset="0"/>
                <a:ea typeface="Noto Serif" pitchFamily="34" charset="-122"/>
                <a:cs typeface="Noto Serif" pitchFamily="34" charset="-120"/>
              </a:rPr>
              <a:t>2 units</a:t>
            </a:r>
            <a:r>
              <a:rPr lang="en-US" sz="1600" dirty="0">
                <a:solidFill>
                  <a:srgbClr val="4C4C4C"/>
                </a:solidFill>
                <a:latin typeface="Noto Serif" pitchFamily="34" charset="0"/>
                <a:ea typeface="Noto Serif" pitchFamily="34" charset="-122"/>
                <a:cs typeface="Noto Serif" pitchFamily="34" charset="-120"/>
              </a:rPr>
              <a:t>,</a:t>
            </a:r>
            <a:endParaRPr lang="en-US" sz="1600" dirty="0"/>
          </a:p>
        </p:txBody>
      </p:sp>
      <p:sp>
        <p:nvSpPr>
          <p:cNvPr id="8" name="Text 5"/>
          <p:cNvSpPr/>
          <p:nvPr/>
        </p:nvSpPr>
        <p:spPr>
          <a:xfrm>
            <a:off x="997863" y="6136600"/>
            <a:ext cx="3939421" cy="326708"/>
          </a:xfrm>
          <a:prstGeom prst="rect">
            <a:avLst/>
          </a:prstGeom>
          <a:noFill/>
          <a:ln/>
        </p:spPr>
        <p:txBody>
          <a:bodyPr wrap="none" lIns="0" tIns="0" rIns="0" bIns="0" rtlCol="0" anchor="t"/>
          <a:lstStyle/>
          <a:p>
            <a:pPr marL="0" indent="0" algn="l">
              <a:lnSpc>
                <a:spcPts val="2550"/>
              </a:lnSpc>
              <a:buNone/>
            </a:pPr>
            <a:r>
              <a:rPr lang="en-US" sz="1600" b="1" dirty="0">
                <a:solidFill>
                  <a:srgbClr val="4C4C4C"/>
                </a:solidFill>
                <a:latin typeface="Noto Serif" pitchFamily="34" charset="0"/>
                <a:ea typeface="Noto Serif" pitchFamily="34" charset="-122"/>
                <a:cs typeface="Noto Serif" pitchFamily="34" charset="-120"/>
              </a:rPr>
              <a:t>Squared Error</a:t>
            </a:r>
            <a:r>
              <a:rPr lang="en-US" sz="1600" dirty="0">
                <a:solidFill>
                  <a:srgbClr val="4C4C4C"/>
                </a:solidFill>
                <a:latin typeface="Noto Serif" pitchFamily="34" charset="0"/>
                <a:ea typeface="Noto Serif" pitchFamily="34" charset="-122"/>
                <a:cs typeface="Noto Serif" pitchFamily="34" charset="-120"/>
              </a:rPr>
              <a:t> = </a:t>
            </a:r>
            <a:r>
              <a:rPr lang="en-US" sz="1600" dirty="0">
                <a:solidFill>
                  <a:srgbClr val="6F7F71"/>
                </a:solidFill>
                <a:latin typeface="Noto Serif" pitchFamily="34" charset="0"/>
                <a:ea typeface="Noto Serif" pitchFamily="34" charset="-122"/>
                <a:cs typeface="Noto Serif" pitchFamily="34" charset="-120"/>
              </a:rPr>
              <a:t>4</a:t>
            </a:r>
            <a:endParaRPr lang="en-US" sz="1600" dirty="0"/>
          </a:p>
        </p:txBody>
      </p:sp>
      <p:pic>
        <p:nvPicPr>
          <p:cNvPr id="9" name="Image 1" descr="preencoded.png"/>
          <p:cNvPicPr>
            <a:picLocks noChangeAspect="1"/>
          </p:cNvPicPr>
          <p:nvPr/>
        </p:nvPicPr>
        <p:blipFill>
          <a:blip r:embed="rId4"/>
          <a:stretch>
            <a:fillRect/>
          </a:stretch>
        </p:blipFill>
        <p:spPr>
          <a:xfrm>
            <a:off x="5141357" y="4225647"/>
            <a:ext cx="4347567" cy="816531"/>
          </a:xfrm>
          <a:prstGeom prst="rect">
            <a:avLst/>
          </a:prstGeom>
        </p:spPr>
      </p:pic>
      <p:sp>
        <p:nvSpPr>
          <p:cNvPr id="10" name="Text 6"/>
          <p:cNvSpPr/>
          <p:nvPr/>
        </p:nvSpPr>
        <p:spPr>
          <a:xfrm>
            <a:off x="5345430" y="5246251"/>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C"/>
                </a:solidFill>
                <a:latin typeface="Noto Serif Medium" pitchFamily="34" charset="0"/>
                <a:ea typeface="Noto Serif Medium" pitchFamily="34" charset="-122"/>
                <a:cs typeface="Noto Serif Medium" pitchFamily="34" charset="-120"/>
              </a:rPr>
              <a:t>Moderate Error</a:t>
            </a:r>
            <a:endParaRPr lang="en-US" sz="2000" dirty="0"/>
          </a:p>
        </p:txBody>
      </p:sp>
      <p:sp>
        <p:nvSpPr>
          <p:cNvPr id="11" name="Text 7"/>
          <p:cNvSpPr/>
          <p:nvPr/>
        </p:nvSpPr>
        <p:spPr>
          <a:xfrm>
            <a:off x="5345430" y="5687497"/>
            <a:ext cx="3939421" cy="326708"/>
          </a:xfrm>
          <a:prstGeom prst="rect">
            <a:avLst/>
          </a:prstGeom>
          <a:noFill/>
          <a:ln/>
        </p:spPr>
        <p:txBody>
          <a:bodyPr wrap="none" lIns="0" tIns="0" rIns="0" bIns="0" rtlCol="0" anchor="t"/>
          <a:lstStyle/>
          <a:p>
            <a:pPr marL="0" indent="0" algn="l">
              <a:lnSpc>
                <a:spcPts val="2550"/>
              </a:lnSpc>
              <a:buNone/>
            </a:pPr>
            <a:r>
              <a:rPr lang="en-US" sz="1600" dirty="0">
                <a:solidFill>
                  <a:srgbClr val="4C4C4C"/>
                </a:solidFill>
                <a:latin typeface="Noto Serif" pitchFamily="34" charset="0"/>
                <a:ea typeface="Noto Serif" pitchFamily="34" charset="-122"/>
                <a:cs typeface="Noto Serif" pitchFamily="34" charset="-120"/>
              </a:rPr>
              <a:t>If the error is </a:t>
            </a:r>
            <a:r>
              <a:rPr lang="en-US" sz="1600" dirty="0">
                <a:solidFill>
                  <a:srgbClr val="A8B8A2"/>
                </a:solidFill>
                <a:latin typeface="Noto Serif" pitchFamily="34" charset="0"/>
                <a:ea typeface="Noto Serif" pitchFamily="34" charset="-122"/>
                <a:cs typeface="Noto Serif" pitchFamily="34" charset="-120"/>
              </a:rPr>
              <a:t>5 units</a:t>
            </a:r>
            <a:r>
              <a:rPr lang="en-US" sz="1600" dirty="0">
                <a:solidFill>
                  <a:srgbClr val="4C4C4C"/>
                </a:solidFill>
                <a:latin typeface="Noto Serif" pitchFamily="34" charset="0"/>
                <a:ea typeface="Noto Serif" pitchFamily="34" charset="-122"/>
                <a:cs typeface="Noto Serif" pitchFamily="34" charset="-120"/>
              </a:rPr>
              <a:t>,</a:t>
            </a:r>
            <a:endParaRPr lang="en-US" sz="1600" dirty="0"/>
          </a:p>
        </p:txBody>
      </p:sp>
      <p:sp>
        <p:nvSpPr>
          <p:cNvPr id="12" name="Text 8"/>
          <p:cNvSpPr/>
          <p:nvPr/>
        </p:nvSpPr>
        <p:spPr>
          <a:xfrm>
            <a:off x="5345430" y="6136600"/>
            <a:ext cx="3939421" cy="326708"/>
          </a:xfrm>
          <a:prstGeom prst="rect">
            <a:avLst/>
          </a:prstGeom>
          <a:noFill/>
          <a:ln/>
        </p:spPr>
        <p:txBody>
          <a:bodyPr wrap="none" lIns="0" tIns="0" rIns="0" bIns="0" rtlCol="0" anchor="t"/>
          <a:lstStyle/>
          <a:p>
            <a:pPr marL="0" indent="0" algn="l">
              <a:lnSpc>
                <a:spcPts val="2550"/>
              </a:lnSpc>
              <a:buNone/>
            </a:pPr>
            <a:r>
              <a:rPr lang="en-US" sz="1600" b="1" dirty="0">
                <a:solidFill>
                  <a:srgbClr val="4C4C4C"/>
                </a:solidFill>
                <a:latin typeface="Noto Serif" pitchFamily="34" charset="0"/>
                <a:ea typeface="Noto Serif" pitchFamily="34" charset="-122"/>
                <a:cs typeface="Noto Serif" pitchFamily="34" charset="-120"/>
              </a:rPr>
              <a:t>Squared Error</a:t>
            </a:r>
            <a:r>
              <a:rPr lang="en-US" sz="1600" dirty="0">
                <a:solidFill>
                  <a:srgbClr val="4C4C4C"/>
                </a:solidFill>
                <a:latin typeface="Noto Serif" pitchFamily="34" charset="0"/>
                <a:ea typeface="Noto Serif" pitchFamily="34" charset="-122"/>
                <a:cs typeface="Noto Serif" pitchFamily="34" charset="-120"/>
              </a:rPr>
              <a:t> = </a:t>
            </a:r>
            <a:r>
              <a:rPr lang="en-US" sz="1600" dirty="0">
                <a:solidFill>
                  <a:srgbClr val="6F7F71"/>
                </a:solidFill>
                <a:latin typeface="Noto Serif" pitchFamily="34" charset="0"/>
                <a:ea typeface="Noto Serif" pitchFamily="34" charset="-122"/>
                <a:cs typeface="Noto Serif" pitchFamily="34" charset="-120"/>
              </a:rPr>
              <a:t>25</a:t>
            </a:r>
            <a:endParaRPr lang="en-US" sz="1600" dirty="0"/>
          </a:p>
        </p:txBody>
      </p:sp>
      <p:pic>
        <p:nvPicPr>
          <p:cNvPr id="13" name="Image 2" descr="preencoded.png"/>
          <p:cNvPicPr>
            <a:picLocks noChangeAspect="1"/>
          </p:cNvPicPr>
          <p:nvPr/>
        </p:nvPicPr>
        <p:blipFill>
          <a:blip r:embed="rId5"/>
          <a:stretch>
            <a:fillRect/>
          </a:stretch>
        </p:blipFill>
        <p:spPr>
          <a:xfrm>
            <a:off x="9488924" y="4225647"/>
            <a:ext cx="4347567" cy="816531"/>
          </a:xfrm>
          <a:prstGeom prst="rect">
            <a:avLst/>
          </a:prstGeom>
        </p:spPr>
      </p:pic>
      <p:sp>
        <p:nvSpPr>
          <p:cNvPr id="14" name="Text 9"/>
          <p:cNvSpPr/>
          <p:nvPr/>
        </p:nvSpPr>
        <p:spPr>
          <a:xfrm>
            <a:off x="9692997" y="5246251"/>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C"/>
                </a:solidFill>
                <a:latin typeface="Noto Serif Medium" pitchFamily="34" charset="0"/>
                <a:ea typeface="Noto Serif Medium" pitchFamily="34" charset="-122"/>
                <a:cs typeface="Noto Serif Medium" pitchFamily="34" charset="-120"/>
              </a:rPr>
              <a:t>Large Error</a:t>
            </a:r>
            <a:endParaRPr lang="en-US" sz="2000" dirty="0"/>
          </a:p>
        </p:txBody>
      </p:sp>
      <p:sp>
        <p:nvSpPr>
          <p:cNvPr id="15" name="Text 10"/>
          <p:cNvSpPr/>
          <p:nvPr/>
        </p:nvSpPr>
        <p:spPr>
          <a:xfrm>
            <a:off x="9692997" y="5687497"/>
            <a:ext cx="3939421" cy="326708"/>
          </a:xfrm>
          <a:prstGeom prst="rect">
            <a:avLst/>
          </a:prstGeom>
          <a:noFill/>
          <a:ln/>
        </p:spPr>
        <p:txBody>
          <a:bodyPr wrap="none" lIns="0" tIns="0" rIns="0" bIns="0" rtlCol="0" anchor="t"/>
          <a:lstStyle/>
          <a:p>
            <a:pPr marL="0" indent="0" algn="l">
              <a:lnSpc>
                <a:spcPts val="2550"/>
              </a:lnSpc>
              <a:buNone/>
            </a:pPr>
            <a:r>
              <a:rPr lang="en-US" sz="1600" dirty="0">
                <a:solidFill>
                  <a:srgbClr val="4C4C4C"/>
                </a:solidFill>
                <a:latin typeface="Noto Serif" pitchFamily="34" charset="0"/>
                <a:ea typeface="Noto Serif" pitchFamily="34" charset="-122"/>
                <a:cs typeface="Noto Serif" pitchFamily="34" charset="-120"/>
              </a:rPr>
              <a:t>If the error is </a:t>
            </a:r>
            <a:r>
              <a:rPr lang="en-US" sz="1600" dirty="0">
                <a:solidFill>
                  <a:srgbClr val="A8B8A2"/>
                </a:solidFill>
                <a:latin typeface="Noto Serif" pitchFamily="34" charset="0"/>
                <a:ea typeface="Noto Serif" pitchFamily="34" charset="-122"/>
                <a:cs typeface="Noto Serif" pitchFamily="34" charset="-120"/>
              </a:rPr>
              <a:t>10 units</a:t>
            </a:r>
            <a:r>
              <a:rPr lang="en-US" sz="1600" dirty="0">
                <a:solidFill>
                  <a:srgbClr val="4C4C4C"/>
                </a:solidFill>
                <a:latin typeface="Noto Serif" pitchFamily="34" charset="0"/>
                <a:ea typeface="Noto Serif" pitchFamily="34" charset="-122"/>
                <a:cs typeface="Noto Serif" pitchFamily="34" charset="-120"/>
              </a:rPr>
              <a:t>,</a:t>
            </a:r>
            <a:endParaRPr lang="en-US" sz="1600" dirty="0"/>
          </a:p>
        </p:txBody>
      </p:sp>
      <p:sp>
        <p:nvSpPr>
          <p:cNvPr id="16" name="Text 11"/>
          <p:cNvSpPr/>
          <p:nvPr/>
        </p:nvSpPr>
        <p:spPr>
          <a:xfrm>
            <a:off x="9692997" y="6136600"/>
            <a:ext cx="3939421" cy="326708"/>
          </a:xfrm>
          <a:prstGeom prst="rect">
            <a:avLst/>
          </a:prstGeom>
          <a:noFill/>
          <a:ln/>
        </p:spPr>
        <p:txBody>
          <a:bodyPr wrap="none" lIns="0" tIns="0" rIns="0" bIns="0" rtlCol="0" anchor="t"/>
          <a:lstStyle/>
          <a:p>
            <a:pPr marL="0" indent="0" algn="l">
              <a:lnSpc>
                <a:spcPts val="2550"/>
              </a:lnSpc>
              <a:buNone/>
            </a:pPr>
            <a:r>
              <a:rPr lang="en-US" sz="1600" b="1" dirty="0">
                <a:solidFill>
                  <a:srgbClr val="4C4C4C"/>
                </a:solidFill>
                <a:latin typeface="Noto Serif" pitchFamily="34" charset="0"/>
                <a:ea typeface="Noto Serif" pitchFamily="34" charset="-122"/>
                <a:cs typeface="Noto Serif" pitchFamily="34" charset="-120"/>
              </a:rPr>
              <a:t>Squared Error</a:t>
            </a:r>
            <a:r>
              <a:rPr lang="en-US" sz="1600" dirty="0">
                <a:solidFill>
                  <a:srgbClr val="4C4C4C"/>
                </a:solidFill>
                <a:latin typeface="Noto Serif" pitchFamily="34" charset="0"/>
                <a:ea typeface="Noto Serif" pitchFamily="34" charset="-122"/>
                <a:cs typeface="Noto Serif" pitchFamily="34" charset="-120"/>
              </a:rPr>
              <a:t> = </a:t>
            </a:r>
            <a:r>
              <a:rPr lang="en-US" sz="1600" dirty="0">
                <a:solidFill>
                  <a:srgbClr val="6F7F71"/>
                </a:solidFill>
                <a:latin typeface="Noto Serif" pitchFamily="34" charset="0"/>
                <a:ea typeface="Noto Serif" pitchFamily="34" charset="-122"/>
                <a:cs typeface="Noto Serif" pitchFamily="34" charset="-120"/>
              </a:rPr>
              <a:t>100</a:t>
            </a:r>
            <a:endParaRPr lang="en-US" sz="1600" dirty="0"/>
          </a:p>
        </p:txBody>
      </p:sp>
      <p:sp>
        <p:nvSpPr>
          <p:cNvPr id="17" name="Text 12"/>
          <p:cNvSpPr/>
          <p:nvPr/>
        </p:nvSpPr>
        <p:spPr>
          <a:xfrm>
            <a:off x="793790" y="6896933"/>
            <a:ext cx="13042821" cy="653415"/>
          </a:xfrm>
          <a:prstGeom prst="rect">
            <a:avLst/>
          </a:prstGeom>
          <a:noFill/>
          <a:ln/>
        </p:spPr>
        <p:txBody>
          <a:bodyPr wrap="square" lIns="0" tIns="0" rIns="0" bIns="0" rtlCol="0" anchor="t"/>
          <a:lstStyle/>
          <a:p>
            <a:pPr marL="0" indent="0" algn="l">
              <a:lnSpc>
                <a:spcPts val="2550"/>
              </a:lnSpc>
              <a:buNone/>
            </a:pPr>
            <a:r>
              <a:rPr lang="en-US" sz="1600" dirty="0">
                <a:solidFill>
                  <a:srgbClr val="4C4C4C"/>
                </a:solidFill>
                <a:latin typeface="Noto Serif" pitchFamily="34" charset="0"/>
                <a:ea typeface="Noto Serif" pitchFamily="34" charset="-122"/>
                <a:cs typeface="Noto Serif" pitchFamily="34" charset="-120"/>
              </a:rPr>
              <a:t>The squaring function causes errors to grow exponentially. This characteristic is highly desirable in scenarios where </a:t>
            </a:r>
            <a:r>
              <a:rPr lang="en-US" sz="1600" dirty="0">
                <a:solidFill>
                  <a:srgbClr val="9C9283"/>
                </a:solidFill>
                <a:latin typeface="Noto Serif" pitchFamily="34" charset="0"/>
                <a:ea typeface="Noto Serif" pitchFamily="34" charset="-122"/>
                <a:cs typeface="Noto Serif" pitchFamily="34" charset="-120"/>
              </a:rPr>
              <a:t>significant mistakes carry severe consequences</a:t>
            </a:r>
            <a:r>
              <a:rPr lang="en-US" sz="1600" dirty="0">
                <a:solidFill>
                  <a:srgbClr val="4C4C4C"/>
                </a:solidFill>
                <a:latin typeface="Noto Serif" pitchFamily="34" charset="0"/>
                <a:ea typeface="Noto Serif" pitchFamily="34" charset="-122"/>
                <a:cs typeface="Noto Serif" pitchFamily="34" charset="-120"/>
              </a:rPr>
              <a:t>, such as inaccurate medical dosages or critical financial predictions.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79621"/>
            <a:ext cx="7728823" cy="566976"/>
          </a:xfrm>
          <a:prstGeom prst="rect">
            <a:avLst/>
          </a:prstGeom>
          <a:noFill/>
          <a:ln/>
        </p:spPr>
        <p:txBody>
          <a:bodyPr wrap="none" lIns="0" tIns="0" rIns="0" bIns="0" rtlCol="0" anchor="t"/>
          <a:lstStyle/>
          <a:p>
            <a:pPr marL="0" indent="0" algn="l">
              <a:lnSpc>
                <a:spcPts val="4450"/>
              </a:lnSpc>
              <a:buNone/>
            </a:pPr>
            <a:r>
              <a:rPr lang="en-US" sz="3550" dirty="0">
                <a:solidFill>
                  <a:srgbClr val="3A3A3A"/>
                </a:solidFill>
                <a:latin typeface="Noto Serif Medium" pitchFamily="34" charset="0"/>
                <a:ea typeface="Noto Serif Medium" pitchFamily="34" charset="-122"/>
                <a:cs typeface="Noto Serif Medium" pitchFamily="34" charset="-120"/>
              </a:rPr>
              <a:t>Example 1: Consistent Small Errors</a:t>
            </a:r>
            <a:endParaRPr lang="en-US" sz="3550" dirty="0"/>
          </a:p>
        </p:txBody>
      </p:sp>
      <p:sp>
        <p:nvSpPr>
          <p:cNvPr id="3" name="Text 1"/>
          <p:cNvSpPr/>
          <p:nvPr/>
        </p:nvSpPr>
        <p:spPr>
          <a:xfrm>
            <a:off x="793790" y="1709499"/>
            <a:ext cx="13042821"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Consider a model predicting delivery times, where all predictions are </a:t>
            </a:r>
            <a:r>
              <a:rPr lang="en-US" sz="1400" dirty="0">
                <a:solidFill>
                  <a:srgbClr val="A8B8A2"/>
                </a:solidFill>
                <a:latin typeface="Noto Serif" pitchFamily="34" charset="0"/>
                <a:ea typeface="Noto Serif" pitchFamily="34" charset="-122"/>
                <a:cs typeface="Noto Serif" pitchFamily="34" charset="-120"/>
              </a:rPr>
              <a:t>consistently off by just 1 minute</a:t>
            </a:r>
            <a:r>
              <a:rPr lang="en-US" sz="1400" dirty="0">
                <a:solidFill>
                  <a:srgbClr val="4C4C4C"/>
                </a:solidFill>
                <a:latin typeface="Noto Serif" pitchFamily="34" charset="0"/>
                <a:ea typeface="Noto Serif" pitchFamily="34" charset="-122"/>
                <a:cs typeface="Noto Serif" pitchFamily="34" charset="-120"/>
              </a:rPr>
              <a:t>.</a:t>
            </a:r>
            <a:endParaRPr lang="en-US" sz="1400" dirty="0"/>
          </a:p>
        </p:txBody>
      </p:sp>
      <p:sp>
        <p:nvSpPr>
          <p:cNvPr id="4" name="Shape 2"/>
          <p:cNvSpPr/>
          <p:nvPr/>
        </p:nvSpPr>
        <p:spPr>
          <a:xfrm>
            <a:off x="793790" y="2203847"/>
            <a:ext cx="13042821" cy="3154204"/>
          </a:xfrm>
          <a:prstGeom prst="roundRect">
            <a:avLst>
              <a:gd name="adj" fmla="val 2416"/>
            </a:avLst>
          </a:prstGeom>
          <a:noFill/>
          <a:ln w="7620">
            <a:solidFill>
              <a:srgbClr val="000000">
                <a:alpha val="8000"/>
              </a:srgbClr>
            </a:solidFill>
            <a:prstDash val="solid"/>
          </a:ln>
        </p:spPr>
      </p:sp>
      <p:sp>
        <p:nvSpPr>
          <p:cNvPr id="5" name="Shape 3"/>
          <p:cNvSpPr/>
          <p:nvPr/>
        </p:nvSpPr>
        <p:spPr>
          <a:xfrm>
            <a:off x="801410" y="2211467"/>
            <a:ext cx="13027581" cy="523161"/>
          </a:xfrm>
          <a:prstGeom prst="rect">
            <a:avLst/>
          </a:prstGeom>
          <a:solidFill>
            <a:srgbClr val="FFFFFF">
              <a:alpha val="4000"/>
            </a:srgbClr>
          </a:solidFill>
          <a:ln/>
        </p:spPr>
      </p:sp>
      <p:sp>
        <p:nvSpPr>
          <p:cNvPr id="6" name="Text 4"/>
          <p:cNvSpPr/>
          <p:nvPr/>
        </p:nvSpPr>
        <p:spPr>
          <a:xfrm>
            <a:off x="983099" y="2327910"/>
            <a:ext cx="2238732" cy="290274"/>
          </a:xfrm>
          <a:prstGeom prst="rect">
            <a:avLst/>
          </a:prstGeom>
          <a:noFill/>
          <a:ln/>
        </p:spPr>
        <p:txBody>
          <a:bodyPr wrap="none" lIns="0" tIns="0" rIns="0" bIns="0" rtlCol="0" anchor="t"/>
          <a:lstStyle/>
          <a:p>
            <a:pPr marL="0" indent="0" algn="l">
              <a:lnSpc>
                <a:spcPts val="2250"/>
              </a:lnSpc>
              <a:buNone/>
            </a:pPr>
            <a:r>
              <a:rPr lang="en-US" sz="1400" b="1" dirty="0">
                <a:solidFill>
                  <a:srgbClr val="4C4C4C"/>
                </a:solidFill>
                <a:latin typeface="Noto Serif" pitchFamily="34" charset="0"/>
                <a:ea typeface="Noto Serif" pitchFamily="34" charset="-122"/>
                <a:cs typeface="Noto Serif" pitchFamily="34" charset="-120"/>
              </a:rPr>
              <a:t>Actual</a:t>
            </a:r>
            <a:endParaRPr lang="en-US" sz="1400" dirty="0"/>
          </a:p>
        </p:txBody>
      </p:sp>
      <p:sp>
        <p:nvSpPr>
          <p:cNvPr id="7" name="Text 5"/>
          <p:cNvSpPr/>
          <p:nvPr/>
        </p:nvSpPr>
        <p:spPr>
          <a:xfrm>
            <a:off x="3592354" y="2327910"/>
            <a:ext cx="2234922" cy="290274"/>
          </a:xfrm>
          <a:prstGeom prst="rect">
            <a:avLst/>
          </a:prstGeom>
          <a:noFill/>
          <a:ln/>
        </p:spPr>
        <p:txBody>
          <a:bodyPr wrap="none" lIns="0" tIns="0" rIns="0" bIns="0" rtlCol="0" anchor="t"/>
          <a:lstStyle/>
          <a:p>
            <a:pPr marL="0" indent="0" algn="l">
              <a:lnSpc>
                <a:spcPts val="2250"/>
              </a:lnSpc>
              <a:buNone/>
            </a:pPr>
            <a:r>
              <a:rPr lang="en-US" sz="1400" b="1" dirty="0">
                <a:solidFill>
                  <a:srgbClr val="4C4C4C"/>
                </a:solidFill>
                <a:latin typeface="Noto Serif" pitchFamily="34" charset="0"/>
                <a:ea typeface="Noto Serif" pitchFamily="34" charset="-122"/>
                <a:cs typeface="Noto Serif" pitchFamily="34" charset="-120"/>
              </a:rPr>
              <a:t>Predicted</a:t>
            </a:r>
            <a:endParaRPr lang="en-US" sz="1400" dirty="0"/>
          </a:p>
        </p:txBody>
      </p:sp>
      <p:sp>
        <p:nvSpPr>
          <p:cNvPr id="8" name="Text 6"/>
          <p:cNvSpPr/>
          <p:nvPr/>
        </p:nvSpPr>
        <p:spPr>
          <a:xfrm>
            <a:off x="6197798" y="2327910"/>
            <a:ext cx="2234922" cy="290274"/>
          </a:xfrm>
          <a:prstGeom prst="rect">
            <a:avLst/>
          </a:prstGeom>
          <a:noFill/>
          <a:ln/>
        </p:spPr>
        <p:txBody>
          <a:bodyPr wrap="none" lIns="0" tIns="0" rIns="0" bIns="0" rtlCol="0" anchor="t"/>
          <a:lstStyle/>
          <a:p>
            <a:pPr marL="0" indent="0" algn="l">
              <a:lnSpc>
                <a:spcPts val="2250"/>
              </a:lnSpc>
              <a:buNone/>
            </a:pPr>
            <a:r>
              <a:rPr lang="en-US" sz="1400" b="1" dirty="0">
                <a:solidFill>
                  <a:srgbClr val="4C4C4C"/>
                </a:solidFill>
                <a:latin typeface="Noto Serif" pitchFamily="34" charset="0"/>
                <a:ea typeface="Noto Serif" pitchFamily="34" charset="-122"/>
                <a:cs typeface="Noto Serif" pitchFamily="34" charset="-120"/>
              </a:rPr>
              <a:t>Error</a:t>
            </a:r>
            <a:endParaRPr lang="en-US" sz="1400" dirty="0"/>
          </a:p>
        </p:txBody>
      </p:sp>
      <p:sp>
        <p:nvSpPr>
          <p:cNvPr id="9" name="Text 7"/>
          <p:cNvSpPr/>
          <p:nvPr/>
        </p:nvSpPr>
        <p:spPr>
          <a:xfrm>
            <a:off x="8803243" y="2327910"/>
            <a:ext cx="4844296" cy="290274"/>
          </a:xfrm>
          <a:prstGeom prst="rect">
            <a:avLst/>
          </a:prstGeom>
          <a:noFill/>
          <a:ln/>
        </p:spPr>
        <p:txBody>
          <a:bodyPr wrap="none" lIns="0" tIns="0" rIns="0" bIns="0" rtlCol="0" anchor="t"/>
          <a:lstStyle/>
          <a:p>
            <a:pPr marL="0" indent="0" algn="l">
              <a:lnSpc>
                <a:spcPts val="2250"/>
              </a:lnSpc>
              <a:buNone/>
            </a:pPr>
            <a:r>
              <a:rPr lang="en-US" sz="1400" b="1" dirty="0">
                <a:solidFill>
                  <a:srgbClr val="4C4C4C"/>
                </a:solidFill>
                <a:latin typeface="Noto Serif" pitchFamily="34" charset="0"/>
                <a:ea typeface="Noto Serif" pitchFamily="34" charset="-122"/>
                <a:cs typeface="Noto Serif" pitchFamily="34" charset="-120"/>
              </a:rPr>
              <a:t>Error²</a:t>
            </a:r>
            <a:endParaRPr lang="en-US" sz="1400" dirty="0"/>
          </a:p>
        </p:txBody>
      </p:sp>
      <p:sp>
        <p:nvSpPr>
          <p:cNvPr id="10" name="Shape 8"/>
          <p:cNvSpPr/>
          <p:nvPr/>
        </p:nvSpPr>
        <p:spPr>
          <a:xfrm>
            <a:off x="801410" y="2734628"/>
            <a:ext cx="13027581" cy="523161"/>
          </a:xfrm>
          <a:prstGeom prst="rect">
            <a:avLst/>
          </a:prstGeom>
          <a:solidFill>
            <a:srgbClr val="000000">
              <a:alpha val="4000"/>
            </a:srgbClr>
          </a:solidFill>
          <a:ln/>
        </p:spPr>
      </p:sp>
      <p:sp>
        <p:nvSpPr>
          <p:cNvPr id="11" name="Text 9"/>
          <p:cNvSpPr/>
          <p:nvPr/>
        </p:nvSpPr>
        <p:spPr>
          <a:xfrm>
            <a:off x="983099" y="2851071"/>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10</a:t>
            </a:r>
            <a:endParaRPr lang="en-US" sz="1400" dirty="0"/>
          </a:p>
        </p:txBody>
      </p:sp>
      <p:sp>
        <p:nvSpPr>
          <p:cNvPr id="12" name="Text 10"/>
          <p:cNvSpPr/>
          <p:nvPr/>
        </p:nvSpPr>
        <p:spPr>
          <a:xfrm>
            <a:off x="3592354" y="285107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11</a:t>
            </a:r>
            <a:endParaRPr lang="en-US" sz="1400" dirty="0"/>
          </a:p>
        </p:txBody>
      </p:sp>
      <p:sp>
        <p:nvSpPr>
          <p:cNvPr id="13" name="Text 11"/>
          <p:cNvSpPr/>
          <p:nvPr/>
        </p:nvSpPr>
        <p:spPr>
          <a:xfrm>
            <a:off x="6197798" y="285107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14" name="Text 12"/>
          <p:cNvSpPr/>
          <p:nvPr/>
        </p:nvSpPr>
        <p:spPr>
          <a:xfrm>
            <a:off x="8803243" y="2851071"/>
            <a:ext cx="4844296"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15" name="Shape 13"/>
          <p:cNvSpPr/>
          <p:nvPr/>
        </p:nvSpPr>
        <p:spPr>
          <a:xfrm>
            <a:off x="801410" y="3257788"/>
            <a:ext cx="13027581" cy="523161"/>
          </a:xfrm>
          <a:prstGeom prst="rect">
            <a:avLst/>
          </a:prstGeom>
          <a:solidFill>
            <a:srgbClr val="FFFFFF">
              <a:alpha val="4000"/>
            </a:srgbClr>
          </a:solidFill>
          <a:ln/>
        </p:spPr>
      </p:sp>
      <p:sp>
        <p:nvSpPr>
          <p:cNvPr id="16" name="Text 14"/>
          <p:cNvSpPr/>
          <p:nvPr/>
        </p:nvSpPr>
        <p:spPr>
          <a:xfrm>
            <a:off x="983099" y="3374231"/>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20</a:t>
            </a:r>
            <a:endParaRPr lang="en-US" sz="1400" dirty="0"/>
          </a:p>
        </p:txBody>
      </p:sp>
      <p:sp>
        <p:nvSpPr>
          <p:cNvPr id="17" name="Text 15"/>
          <p:cNvSpPr/>
          <p:nvPr/>
        </p:nvSpPr>
        <p:spPr>
          <a:xfrm>
            <a:off x="3592354" y="337423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21</a:t>
            </a:r>
            <a:endParaRPr lang="en-US" sz="1400" dirty="0"/>
          </a:p>
        </p:txBody>
      </p:sp>
      <p:sp>
        <p:nvSpPr>
          <p:cNvPr id="18" name="Text 16"/>
          <p:cNvSpPr/>
          <p:nvPr/>
        </p:nvSpPr>
        <p:spPr>
          <a:xfrm>
            <a:off x="6197798" y="337423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19" name="Text 17"/>
          <p:cNvSpPr/>
          <p:nvPr/>
        </p:nvSpPr>
        <p:spPr>
          <a:xfrm>
            <a:off x="8803243" y="3374231"/>
            <a:ext cx="4844296"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20" name="Shape 18"/>
          <p:cNvSpPr/>
          <p:nvPr/>
        </p:nvSpPr>
        <p:spPr>
          <a:xfrm>
            <a:off x="801410" y="3780949"/>
            <a:ext cx="13027581" cy="523161"/>
          </a:xfrm>
          <a:prstGeom prst="rect">
            <a:avLst/>
          </a:prstGeom>
          <a:solidFill>
            <a:srgbClr val="000000">
              <a:alpha val="4000"/>
            </a:srgbClr>
          </a:solidFill>
          <a:ln/>
        </p:spPr>
      </p:sp>
      <p:sp>
        <p:nvSpPr>
          <p:cNvPr id="21" name="Text 19"/>
          <p:cNvSpPr/>
          <p:nvPr/>
        </p:nvSpPr>
        <p:spPr>
          <a:xfrm>
            <a:off x="983099" y="3897392"/>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30</a:t>
            </a:r>
            <a:endParaRPr lang="en-US" sz="1400" dirty="0"/>
          </a:p>
        </p:txBody>
      </p:sp>
      <p:sp>
        <p:nvSpPr>
          <p:cNvPr id="22" name="Text 20"/>
          <p:cNvSpPr/>
          <p:nvPr/>
        </p:nvSpPr>
        <p:spPr>
          <a:xfrm>
            <a:off x="3592354" y="389739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31</a:t>
            </a:r>
            <a:endParaRPr lang="en-US" sz="1400" dirty="0"/>
          </a:p>
        </p:txBody>
      </p:sp>
      <p:sp>
        <p:nvSpPr>
          <p:cNvPr id="23" name="Text 21"/>
          <p:cNvSpPr/>
          <p:nvPr/>
        </p:nvSpPr>
        <p:spPr>
          <a:xfrm>
            <a:off x="6197798" y="389739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24" name="Text 22"/>
          <p:cNvSpPr/>
          <p:nvPr/>
        </p:nvSpPr>
        <p:spPr>
          <a:xfrm>
            <a:off x="8803243" y="3897392"/>
            <a:ext cx="4844296"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25" name="Shape 23"/>
          <p:cNvSpPr/>
          <p:nvPr/>
        </p:nvSpPr>
        <p:spPr>
          <a:xfrm>
            <a:off x="801410" y="4304109"/>
            <a:ext cx="13027581" cy="523161"/>
          </a:xfrm>
          <a:prstGeom prst="rect">
            <a:avLst/>
          </a:prstGeom>
          <a:solidFill>
            <a:srgbClr val="FFFFFF">
              <a:alpha val="4000"/>
            </a:srgbClr>
          </a:solidFill>
          <a:ln/>
        </p:spPr>
      </p:sp>
      <p:sp>
        <p:nvSpPr>
          <p:cNvPr id="26" name="Text 24"/>
          <p:cNvSpPr/>
          <p:nvPr/>
        </p:nvSpPr>
        <p:spPr>
          <a:xfrm>
            <a:off x="983099" y="4420553"/>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40</a:t>
            </a:r>
            <a:endParaRPr lang="en-US" sz="1400" dirty="0"/>
          </a:p>
        </p:txBody>
      </p:sp>
      <p:sp>
        <p:nvSpPr>
          <p:cNvPr id="27" name="Text 25"/>
          <p:cNvSpPr/>
          <p:nvPr/>
        </p:nvSpPr>
        <p:spPr>
          <a:xfrm>
            <a:off x="3592354" y="4420553"/>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41</a:t>
            </a:r>
            <a:endParaRPr lang="en-US" sz="1400" dirty="0"/>
          </a:p>
        </p:txBody>
      </p:sp>
      <p:sp>
        <p:nvSpPr>
          <p:cNvPr id="28" name="Text 26"/>
          <p:cNvSpPr/>
          <p:nvPr/>
        </p:nvSpPr>
        <p:spPr>
          <a:xfrm>
            <a:off x="6197798" y="4420553"/>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29" name="Text 27"/>
          <p:cNvSpPr/>
          <p:nvPr/>
        </p:nvSpPr>
        <p:spPr>
          <a:xfrm>
            <a:off x="8803243" y="4420553"/>
            <a:ext cx="4844296"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30" name="Shape 28"/>
          <p:cNvSpPr/>
          <p:nvPr/>
        </p:nvSpPr>
        <p:spPr>
          <a:xfrm>
            <a:off x="801410" y="4827270"/>
            <a:ext cx="13027581" cy="523161"/>
          </a:xfrm>
          <a:prstGeom prst="rect">
            <a:avLst/>
          </a:prstGeom>
          <a:solidFill>
            <a:srgbClr val="000000">
              <a:alpha val="4000"/>
            </a:srgbClr>
          </a:solidFill>
          <a:ln/>
        </p:spPr>
      </p:sp>
      <p:sp>
        <p:nvSpPr>
          <p:cNvPr id="31" name="Text 29"/>
          <p:cNvSpPr/>
          <p:nvPr/>
        </p:nvSpPr>
        <p:spPr>
          <a:xfrm>
            <a:off x="983099" y="4943713"/>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50</a:t>
            </a:r>
            <a:endParaRPr lang="en-US" sz="1400" dirty="0"/>
          </a:p>
        </p:txBody>
      </p:sp>
      <p:sp>
        <p:nvSpPr>
          <p:cNvPr id="32" name="Text 30"/>
          <p:cNvSpPr/>
          <p:nvPr/>
        </p:nvSpPr>
        <p:spPr>
          <a:xfrm>
            <a:off x="3592354" y="4943713"/>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51</a:t>
            </a:r>
            <a:endParaRPr lang="en-US" sz="1400" dirty="0"/>
          </a:p>
        </p:txBody>
      </p:sp>
      <p:sp>
        <p:nvSpPr>
          <p:cNvPr id="33" name="Text 31"/>
          <p:cNvSpPr/>
          <p:nvPr/>
        </p:nvSpPr>
        <p:spPr>
          <a:xfrm>
            <a:off x="6197798" y="4943713"/>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34" name="Text 32"/>
          <p:cNvSpPr/>
          <p:nvPr/>
        </p:nvSpPr>
        <p:spPr>
          <a:xfrm>
            <a:off x="8803243" y="4943713"/>
            <a:ext cx="4844296"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35" name="Text 33"/>
          <p:cNvSpPr/>
          <p:nvPr/>
        </p:nvSpPr>
        <p:spPr>
          <a:xfrm>
            <a:off x="793790" y="5587603"/>
            <a:ext cx="13042821" cy="495776"/>
          </a:xfrm>
          <a:prstGeom prst="rect">
            <a:avLst/>
          </a:prstGeom>
          <a:noFill/>
          <a:ln/>
        </p:spPr>
        <p:txBody>
          <a:bodyPr wrap="square" lIns="0" tIns="0" rIns="0" bIns="0" rtlCol="0" anchor="t"/>
          <a:lstStyle/>
          <a:p>
            <a:pPr marL="0" indent="0" algn="l">
              <a:lnSpc>
                <a:spcPts val="2550"/>
              </a:lnSpc>
              <a:buNone/>
            </a:pPr>
            <a:endParaRPr lang="en-US" sz="1600" dirty="0"/>
          </a:p>
        </p:txBody>
      </p:sp>
      <p:pic>
        <p:nvPicPr>
          <p:cNvPr id="36" name="Image 0" descr="preencoded.png"/>
          <p:cNvPicPr>
            <a:picLocks noChangeAspect="1"/>
          </p:cNvPicPr>
          <p:nvPr/>
        </p:nvPicPr>
        <p:blipFill>
          <a:blip r:embed="rId3"/>
          <a:stretch>
            <a:fillRect/>
          </a:stretch>
        </p:blipFill>
        <p:spPr>
          <a:xfrm>
            <a:off x="793790" y="5587603"/>
            <a:ext cx="13042821" cy="495776"/>
          </a:xfrm>
          <a:prstGeom prst="rect">
            <a:avLst/>
          </a:prstGeom>
        </p:spPr>
      </p:pic>
      <p:sp>
        <p:nvSpPr>
          <p:cNvPr id="37" name="Text 34"/>
          <p:cNvSpPr/>
          <p:nvPr/>
        </p:nvSpPr>
        <p:spPr>
          <a:xfrm>
            <a:off x="793790" y="6312932"/>
            <a:ext cx="13042821" cy="326827"/>
          </a:xfrm>
          <a:prstGeom prst="rect">
            <a:avLst/>
          </a:prstGeom>
          <a:noFill/>
          <a:ln/>
        </p:spPr>
        <p:txBody>
          <a:bodyPr wrap="none" lIns="0" tIns="0" rIns="0" bIns="0" rtlCol="0" anchor="t"/>
          <a:lstStyle/>
          <a:p>
            <a:pPr marL="0" indent="0" algn="l">
              <a:lnSpc>
                <a:spcPts val="2550"/>
              </a:lnSpc>
              <a:buNone/>
            </a:pPr>
            <a:endParaRPr lang="en-US" sz="1600" dirty="0"/>
          </a:p>
        </p:txBody>
      </p:sp>
      <p:pic>
        <p:nvPicPr>
          <p:cNvPr id="38" name="Image 1" descr="preencoded.png"/>
          <p:cNvPicPr>
            <a:picLocks noChangeAspect="1"/>
          </p:cNvPicPr>
          <p:nvPr/>
        </p:nvPicPr>
        <p:blipFill>
          <a:blip r:embed="rId4"/>
          <a:stretch>
            <a:fillRect/>
          </a:stretch>
        </p:blipFill>
        <p:spPr>
          <a:xfrm>
            <a:off x="793790" y="6312932"/>
            <a:ext cx="13042821" cy="326827"/>
          </a:xfrm>
          <a:prstGeom prst="rect">
            <a:avLst/>
          </a:prstGeom>
        </p:spPr>
      </p:pic>
      <p:sp>
        <p:nvSpPr>
          <p:cNvPr id="39" name="Text 35"/>
          <p:cNvSpPr/>
          <p:nvPr/>
        </p:nvSpPr>
        <p:spPr>
          <a:xfrm>
            <a:off x="793790" y="6869311"/>
            <a:ext cx="13042821" cy="580549"/>
          </a:xfrm>
          <a:prstGeom prst="rect">
            <a:avLst/>
          </a:prstGeom>
          <a:noFill/>
          <a:ln/>
        </p:spPr>
        <p:txBody>
          <a:bodyPr wrap="squar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In this scenario, the model exhibits high consistency. The MSE and RMSE remain low, indicating that the small, uniform errors do not significantly impact the overall error metric.</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87241"/>
            <a:ext cx="8619411" cy="566976"/>
          </a:xfrm>
          <a:prstGeom prst="rect">
            <a:avLst/>
          </a:prstGeom>
          <a:noFill/>
          <a:ln/>
        </p:spPr>
        <p:txBody>
          <a:bodyPr wrap="none" lIns="0" tIns="0" rIns="0" bIns="0" rtlCol="0" anchor="t"/>
          <a:lstStyle/>
          <a:p>
            <a:pPr marL="0" indent="0" algn="l">
              <a:lnSpc>
                <a:spcPts val="4450"/>
              </a:lnSpc>
              <a:buNone/>
            </a:pPr>
            <a:r>
              <a:rPr lang="en-US" sz="3550" dirty="0">
                <a:solidFill>
                  <a:srgbClr val="3A3A3A"/>
                </a:solidFill>
                <a:latin typeface="Noto Serif Medium" pitchFamily="34" charset="0"/>
                <a:ea typeface="Noto Serif Medium" pitchFamily="34" charset="-122"/>
                <a:cs typeface="Noto Serif Medium" pitchFamily="34" charset="-120"/>
              </a:rPr>
              <a:t>Example 2: One Large Error Dominates</a:t>
            </a:r>
            <a:endParaRPr lang="en-US" sz="3550" dirty="0"/>
          </a:p>
        </p:txBody>
      </p:sp>
      <p:sp>
        <p:nvSpPr>
          <p:cNvPr id="3" name="Text 1"/>
          <p:cNvSpPr/>
          <p:nvPr/>
        </p:nvSpPr>
        <p:spPr>
          <a:xfrm>
            <a:off x="793790" y="1717119"/>
            <a:ext cx="13042821"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Now, observe the effect when </a:t>
            </a:r>
            <a:r>
              <a:rPr lang="en-US" sz="1400" dirty="0">
                <a:solidFill>
                  <a:srgbClr val="9C9283"/>
                </a:solidFill>
                <a:latin typeface="Noto Serif" pitchFamily="34" charset="0"/>
                <a:ea typeface="Noto Serif" pitchFamily="34" charset="-122"/>
                <a:cs typeface="Noto Serif" pitchFamily="34" charset="-120"/>
              </a:rPr>
              <a:t>just one prediction is significantly off</a:t>
            </a:r>
            <a:r>
              <a:rPr lang="en-US" sz="1400" dirty="0">
                <a:solidFill>
                  <a:srgbClr val="4C4C4C"/>
                </a:solidFill>
                <a:latin typeface="Noto Serif" pitchFamily="34" charset="0"/>
                <a:ea typeface="Noto Serif" pitchFamily="34" charset="-122"/>
                <a:cs typeface="Noto Serif" pitchFamily="34" charset="-120"/>
              </a:rPr>
              <a:t>, while others remain small.</a:t>
            </a:r>
            <a:endParaRPr lang="en-US" sz="1400" dirty="0"/>
          </a:p>
        </p:txBody>
      </p:sp>
      <p:sp>
        <p:nvSpPr>
          <p:cNvPr id="4" name="Shape 2"/>
          <p:cNvSpPr/>
          <p:nvPr/>
        </p:nvSpPr>
        <p:spPr>
          <a:xfrm>
            <a:off x="793790" y="2211467"/>
            <a:ext cx="13042821" cy="3154204"/>
          </a:xfrm>
          <a:prstGeom prst="roundRect">
            <a:avLst>
              <a:gd name="adj" fmla="val 2416"/>
            </a:avLst>
          </a:prstGeom>
          <a:noFill/>
          <a:ln w="7620">
            <a:solidFill>
              <a:srgbClr val="000000">
                <a:alpha val="8000"/>
              </a:srgbClr>
            </a:solidFill>
            <a:prstDash val="solid"/>
          </a:ln>
        </p:spPr>
      </p:sp>
      <p:sp>
        <p:nvSpPr>
          <p:cNvPr id="5" name="Shape 3"/>
          <p:cNvSpPr/>
          <p:nvPr/>
        </p:nvSpPr>
        <p:spPr>
          <a:xfrm>
            <a:off x="801410" y="2219087"/>
            <a:ext cx="13027581" cy="523161"/>
          </a:xfrm>
          <a:prstGeom prst="rect">
            <a:avLst/>
          </a:prstGeom>
          <a:solidFill>
            <a:srgbClr val="FFFFFF">
              <a:alpha val="4000"/>
            </a:srgbClr>
          </a:solidFill>
          <a:ln/>
        </p:spPr>
      </p:sp>
      <p:sp>
        <p:nvSpPr>
          <p:cNvPr id="6" name="Text 4"/>
          <p:cNvSpPr/>
          <p:nvPr/>
        </p:nvSpPr>
        <p:spPr>
          <a:xfrm>
            <a:off x="983099" y="2335530"/>
            <a:ext cx="2238732" cy="290274"/>
          </a:xfrm>
          <a:prstGeom prst="rect">
            <a:avLst/>
          </a:prstGeom>
          <a:noFill/>
          <a:ln/>
        </p:spPr>
        <p:txBody>
          <a:bodyPr wrap="none" lIns="0" tIns="0" rIns="0" bIns="0" rtlCol="0" anchor="t"/>
          <a:lstStyle/>
          <a:p>
            <a:pPr marL="0" indent="0" algn="l">
              <a:lnSpc>
                <a:spcPts val="2250"/>
              </a:lnSpc>
              <a:buNone/>
            </a:pPr>
            <a:r>
              <a:rPr lang="en-US" sz="1400" b="1" dirty="0">
                <a:solidFill>
                  <a:srgbClr val="4C4C4C"/>
                </a:solidFill>
                <a:latin typeface="Noto Serif" pitchFamily="34" charset="0"/>
                <a:ea typeface="Noto Serif" pitchFamily="34" charset="-122"/>
                <a:cs typeface="Noto Serif" pitchFamily="34" charset="-120"/>
              </a:rPr>
              <a:t>Actual</a:t>
            </a:r>
            <a:endParaRPr lang="en-US" sz="1400" dirty="0"/>
          </a:p>
        </p:txBody>
      </p:sp>
      <p:sp>
        <p:nvSpPr>
          <p:cNvPr id="7" name="Text 5"/>
          <p:cNvSpPr/>
          <p:nvPr/>
        </p:nvSpPr>
        <p:spPr>
          <a:xfrm>
            <a:off x="3592354" y="2335530"/>
            <a:ext cx="2234922" cy="290274"/>
          </a:xfrm>
          <a:prstGeom prst="rect">
            <a:avLst/>
          </a:prstGeom>
          <a:noFill/>
          <a:ln/>
        </p:spPr>
        <p:txBody>
          <a:bodyPr wrap="none" lIns="0" tIns="0" rIns="0" bIns="0" rtlCol="0" anchor="t"/>
          <a:lstStyle/>
          <a:p>
            <a:pPr marL="0" indent="0" algn="l">
              <a:lnSpc>
                <a:spcPts val="2250"/>
              </a:lnSpc>
              <a:buNone/>
            </a:pPr>
            <a:r>
              <a:rPr lang="en-US" sz="1400" b="1" dirty="0">
                <a:solidFill>
                  <a:srgbClr val="4C4C4C"/>
                </a:solidFill>
                <a:latin typeface="Noto Serif" pitchFamily="34" charset="0"/>
                <a:ea typeface="Noto Serif" pitchFamily="34" charset="-122"/>
                <a:cs typeface="Noto Serif" pitchFamily="34" charset="-120"/>
              </a:rPr>
              <a:t>Predicted</a:t>
            </a:r>
            <a:endParaRPr lang="en-US" sz="1400" dirty="0"/>
          </a:p>
        </p:txBody>
      </p:sp>
      <p:sp>
        <p:nvSpPr>
          <p:cNvPr id="8" name="Text 6"/>
          <p:cNvSpPr/>
          <p:nvPr/>
        </p:nvSpPr>
        <p:spPr>
          <a:xfrm>
            <a:off x="6197798" y="2335530"/>
            <a:ext cx="2234922" cy="290274"/>
          </a:xfrm>
          <a:prstGeom prst="rect">
            <a:avLst/>
          </a:prstGeom>
          <a:noFill/>
          <a:ln/>
        </p:spPr>
        <p:txBody>
          <a:bodyPr wrap="none" lIns="0" tIns="0" rIns="0" bIns="0" rtlCol="0" anchor="t"/>
          <a:lstStyle/>
          <a:p>
            <a:pPr marL="0" indent="0" algn="l">
              <a:lnSpc>
                <a:spcPts val="2250"/>
              </a:lnSpc>
              <a:buNone/>
            </a:pPr>
            <a:r>
              <a:rPr lang="en-US" sz="1400" b="1" dirty="0">
                <a:solidFill>
                  <a:srgbClr val="4C4C4C"/>
                </a:solidFill>
                <a:latin typeface="Noto Serif" pitchFamily="34" charset="0"/>
                <a:ea typeface="Noto Serif" pitchFamily="34" charset="-122"/>
                <a:cs typeface="Noto Serif" pitchFamily="34" charset="-120"/>
              </a:rPr>
              <a:t>Error</a:t>
            </a:r>
            <a:endParaRPr lang="en-US" sz="1400" dirty="0"/>
          </a:p>
        </p:txBody>
      </p:sp>
      <p:sp>
        <p:nvSpPr>
          <p:cNvPr id="9" name="Text 7"/>
          <p:cNvSpPr/>
          <p:nvPr/>
        </p:nvSpPr>
        <p:spPr>
          <a:xfrm>
            <a:off x="8803243" y="2335530"/>
            <a:ext cx="4844296" cy="290274"/>
          </a:xfrm>
          <a:prstGeom prst="rect">
            <a:avLst/>
          </a:prstGeom>
          <a:noFill/>
          <a:ln/>
        </p:spPr>
        <p:txBody>
          <a:bodyPr wrap="none" lIns="0" tIns="0" rIns="0" bIns="0" rtlCol="0" anchor="t"/>
          <a:lstStyle/>
          <a:p>
            <a:pPr marL="0" indent="0" algn="l">
              <a:lnSpc>
                <a:spcPts val="2250"/>
              </a:lnSpc>
              <a:buNone/>
            </a:pPr>
            <a:r>
              <a:rPr lang="en-US" sz="1400" b="1" dirty="0">
                <a:solidFill>
                  <a:srgbClr val="4C4C4C"/>
                </a:solidFill>
                <a:latin typeface="Noto Serif" pitchFamily="34" charset="0"/>
                <a:ea typeface="Noto Serif" pitchFamily="34" charset="-122"/>
                <a:cs typeface="Noto Serif" pitchFamily="34" charset="-120"/>
              </a:rPr>
              <a:t>Error²</a:t>
            </a:r>
            <a:endParaRPr lang="en-US" sz="1400" dirty="0"/>
          </a:p>
        </p:txBody>
      </p:sp>
      <p:sp>
        <p:nvSpPr>
          <p:cNvPr id="10" name="Shape 8"/>
          <p:cNvSpPr/>
          <p:nvPr/>
        </p:nvSpPr>
        <p:spPr>
          <a:xfrm>
            <a:off x="801410" y="2742248"/>
            <a:ext cx="13027581" cy="523161"/>
          </a:xfrm>
          <a:prstGeom prst="rect">
            <a:avLst/>
          </a:prstGeom>
          <a:solidFill>
            <a:srgbClr val="000000">
              <a:alpha val="4000"/>
            </a:srgbClr>
          </a:solidFill>
          <a:ln/>
        </p:spPr>
      </p:sp>
      <p:sp>
        <p:nvSpPr>
          <p:cNvPr id="11" name="Text 9"/>
          <p:cNvSpPr/>
          <p:nvPr/>
        </p:nvSpPr>
        <p:spPr>
          <a:xfrm>
            <a:off x="983099" y="2858691"/>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10</a:t>
            </a:r>
            <a:endParaRPr lang="en-US" sz="1400" dirty="0"/>
          </a:p>
        </p:txBody>
      </p:sp>
      <p:sp>
        <p:nvSpPr>
          <p:cNvPr id="12" name="Text 10"/>
          <p:cNvSpPr/>
          <p:nvPr/>
        </p:nvSpPr>
        <p:spPr>
          <a:xfrm>
            <a:off x="3592354" y="285869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11</a:t>
            </a:r>
            <a:endParaRPr lang="en-US" sz="1400" dirty="0"/>
          </a:p>
        </p:txBody>
      </p:sp>
      <p:sp>
        <p:nvSpPr>
          <p:cNvPr id="13" name="Text 11"/>
          <p:cNvSpPr/>
          <p:nvPr/>
        </p:nvSpPr>
        <p:spPr>
          <a:xfrm>
            <a:off x="6197798" y="285869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14" name="Text 12"/>
          <p:cNvSpPr/>
          <p:nvPr/>
        </p:nvSpPr>
        <p:spPr>
          <a:xfrm>
            <a:off x="8803243" y="2858691"/>
            <a:ext cx="4844296"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15" name="Shape 13"/>
          <p:cNvSpPr/>
          <p:nvPr/>
        </p:nvSpPr>
        <p:spPr>
          <a:xfrm>
            <a:off x="801410" y="3265408"/>
            <a:ext cx="13027581" cy="523161"/>
          </a:xfrm>
          <a:prstGeom prst="rect">
            <a:avLst/>
          </a:prstGeom>
          <a:solidFill>
            <a:srgbClr val="FFFFFF">
              <a:alpha val="4000"/>
            </a:srgbClr>
          </a:solidFill>
          <a:ln/>
        </p:spPr>
      </p:sp>
      <p:sp>
        <p:nvSpPr>
          <p:cNvPr id="16" name="Text 14"/>
          <p:cNvSpPr/>
          <p:nvPr/>
        </p:nvSpPr>
        <p:spPr>
          <a:xfrm>
            <a:off x="983099" y="3381851"/>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20</a:t>
            </a:r>
            <a:endParaRPr lang="en-US" sz="1400" dirty="0"/>
          </a:p>
        </p:txBody>
      </p:sp>
      <p:sp>
        <p:nvSpPr>
          <p:cNvPr id="17" name="Text 15"/>
          <p:cNvSpPr/>
          <p:nvPr/>
        </p:nvSpPr>
        <p:spPr>
          <a:xfrm>
            <a:off x="3592354" y="338185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21</a:t>
            </a:r>
            <a:endParaRPr lang="en-US" sz="1400" dirty="0"/>
          </a:p>
        </p:txBody>
      </p:sp>
      <p:sp>
        <p:nvSpPr>
          <p:cNvPr id="18" name="Text 16"/>
          <p:cNvSpPr/>
          <p:nvPr/>
        </p:nvSpPr>
        <p:spPr>
          <a:xfrm>
            <a:off x="6197798" y="338185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19" name="Text 17"/>
          <p:cNvSpPr/>
          <p:nvPr/>
        </p:nvSpPr>
        <p:spPr>
          <a:xfrm>
            <a:off x="8803243" y="3381851"/>
            <a:ext cx="4844296"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20" name="Shape 18"/>
          <p:cNvSpPr/>
          <p:nvPr/>
        </p:nvSpPr>
        <p:spPr>
          <a:xfrm>
            <a:off x="801410" y="3788569"/>
            <a:ext cx="13027581" cy="523161"/>
          </a:xfrm>
          <a:prstGeom prst="rect">
            <a:avLst/>
          </a:prstGeom>
          <a:solidFill>
            <a:srgbClr val="000000">
              <a:alpha val="4000"/>
            </a:srgbClr>
          </a:solidFill>
          <a:ln/>
        </p:spPr>
      </p:sp>
      <p:sp>
        <p:nvSpPr>
          <p:cNvPr id="21" name="Text 19"/>
          <p:cNvSpPr/>
          <p:nvPr/>
        </p:nvSpPr>
        <p:spPr>
          <a:xfrm>
            <a:off x="983099" y="3905012"/>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30</a:t>
            </a:r>
            <a:endParaRPr lang="en-US" sz="1400" dirty="0"/>
          </a:p>
        </p:txBody>
      </p:sp>
      <p:sp>
        <p:nvSpPr>
          <p:cNvPr id="22" name="Text 20"/>
          <p:cNvSpPr/>
          <p:nvPr/>
        </p:nvSpPr>
        <p:spPr>
          <a:xfrm>
            <a:off x="3592354" y="390501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31</a:t>
            </a:r>
            <a:endParaRPr lang="en-US" sz="1400" dirty="0"/>
          </a:p>
        </p:txBody>
      </p:sp>
      <p:sp>
        <p:nvSpPr>
          <p:cNvPr id="23" name="Text 21"/>
          <p:cNvSpPr/>
          <p:nvPr/>
        </p:nvSpPr>
        <p:spPr>
          <a:xfrm>
            <a:off x="6197798" y="390501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24" name="Text 22"/>
          <p:cNvSpPr/>
          <p:nvPr/>
        </p:nvSpPr>
        <p:spPr>
          <a:xfrm>
            <a:off x="8803243" y="3905012"/>
            <a:ext cx="4844296"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25" name="Shape 23"/>
          <p:cNvSpPr/>
          <p:nvPr/>
        </p:nvSpPr>
        <p:spPr>
          <a:xfrm>
            <a:off x="801410" y="4311729"/>
            <a:ext cx="13027581" cy="523161"/>
          </a:xfrm>
          <a:prstGeom prst="rect">
            <a:avLst/>
          </a:prstGeom>
          <a:solidFill>
            <a:srgbClr val="FFFFFF">
              <a:alpha val="4000"/>
            </a:srgbClr>
          </a:solidFill>
          <a:ln/>
        </p:spPr>
      </p:sp>
      <p:sp>
        <p:nvSpPr>
          <p:cNvPr id="26" name="Text 24"/>
          <p:cNvSpPr/>
          <p:nvPr/>
        </p:nvSpPr>
        <p:spPr>
          <a:xfrm>
            <a:off x="983099" y="4428173"/>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40</a:t>
            </a:r>
            <a:endParaRPr lang="en-US" sz="1400" dirty="0"/>
          </a:p>
        </p:txBody>
      </p:sp>
      <p:sp>
        <p:nvSpPr>
          <p:cNvPr id="27" name="Text 25"/>
          <p:cNvSpPr/>
          <p:nvPr/>
        </p:nvSpPr>
        <p:spPr>
          <a:xfrm>
            <a:off x="3592354" y="4428173"/>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41</a:t>
            </a:r>
            <a:endParaRPr lang="en-US" sz="1400" dirty="0"/>
          </a:p>
        </p:txBody>
      </p:sp>
      <p:sp>
        <p:nvSpPr>
          <p:cNvPr id="28" name="Text 26"/>
          <p:cNvSpPr/>
          <p:nvPr/>
        </p:nvSpPr>
        <p:spPr>
          <a:xfrm>
            <a:off x="6197798" y="4428173"/>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29" name="Text 27"/>
          <p:cNvSpPr/>
          <p:nvPr/>
        </p:nvSpPr>
        <p:spPr>
          <a:xfrm>
            <a:off x="8803243" y="4428173"/>
            <a:ext cx="4844296"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1</a:t>
            </a:r>
            <a:endParaRPr lang="en-US" sz="1400" dirty="0"/>
          </a:p>
        </p:txBody>
      </p:sp>
      <p:sp>
        <p:nvSpPr>
          <p:cNvPr id="30" name="Shape 28"/>
          <p:cNvSpPr/>
          <p:nvPr/>
        </p:nvSpPr>
        <p:spPr>
          <a:xfrm>
            <a:off x="801410" y="4834890"/>
            <a:ext cx="13027581" cy="523161"/>
          </a:xfrm>
          <a:prstGeom prst="rect">
            <a:avLst/>
          </a:prstGeom>
          <a:solidFill>
            <a:srgbClr val="000000">
              <a:alpha val="4000"/>
            </a:srgbClr>
          </a:solidFill>
          <a:ln/>
        </p:spPr>
      </p:sp>
      <p:sp>
        <p:nvSpPr>
          <p:cNvPr id="31" name="Text 29"/>
          <p:cNvSpPr/>
          <p:nvPr/>
        </p:nvSpPr>
        <p:spPr>
          <a:xfrm>
            <a:off x="983099" y="4951333"/>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50</a:t>
            </a:r>
            <a:endParaRPr lang="en-US" sz="1400" dirty="0"/>
          </a:p>
        </p:txBody>
      </p:sp>
      <p:sp>
        <p:nvSpPr>
          <p:cNvPr id="32" name="Text 30"/>
          <p:cNvSpPr/>
          <p:nvPr/>
        </p:nvSpPr>
        <p:spPr>
          <a:xfrm>
            <a:off x="3592354" y="4951333"/>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70</a:t>
            </a:r>
            <a:endParaRPr lang="en-US" sz="1400" dirty="0"/>
          </a:p>
        </p:txBody>
      </p:sp>
      <p:sp>
        <p:nvSpPr>
          <p:cNvPr id="33" name="Text 31"/>
          <p:cNvSpPr/>
          <p:nvPr/>
        </p:nvSpPr>
        <p:spPr>
          <a:xfrm>
            <a:off x="6197798" y="4951333"/>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6F7F71"/>
                </a:solidFill>
                <a:latin typeface="Noto Serif" pitchFamily="34" charset="0"/>
                <a:ea typeface="Noto Serif" pitchFamily="34" charset="-122"/>
                <a:cs typeface="Noto Serif" pitchFamily="34" charset="-120"/>
              </a:rPr>
              <a:t>+20</a:t>
            </a:r>
            <a:endParaRPr lang="en-US" sz="1400" dirty="0"/>
          </a:p>
        </p:txBody>
      </p:sp>
      <p:sp>
        <p:nvSpPr>
          <p:cNvPr id="34" name="Text 32"/>
          <p:cNvSpPr/>
          <p:nvPr/>
        </p:nvSpPr>
        <p:spPr>
          <a:xfrm>
            <a:off x="8803243" y="4951333"/>
            <a:ext cx="4844296" cy="290274"/>
          </a:xfrm>
          <a:prstGeom prst="rect">
            <a:avLst/>
          </a:prstGeom>
          <a:noFill/>
          <a:ln/>
        </p:spPr>
        <p:txBody>
          <a:bodyPr wrap="none" lIns="0" tIns="0" rIns="0" bIns="0" rtlCol="0" anchor="t"/>
          <a:lstStyle/>
          <a:p>
            <a:pPr marL="0" indent="0" algn="l">
              <a:lnSpc>
                <a:spcPts val="2250"/>
              </a:lnSpc>
              <a:buNone/>
            </a:pPr>
            <a:r>
              <a:rPr lang="en-US" sz="1400" dirty="0">
                <a:solidFill>
                  <a:srgbClr val="6F7F71"/>
                </a:solidFill>
                <a:latin typeface="Noto Serif" pitchFamily="34" charset="0"/>
                <a:ea typeface="Noto Serif" pitchFamily="34" charset="-122"/>
                <a:cs typeface="Noto Serif" pitchFamily="34" charset="-120"/>
              </a:rPr>
              <a:t>400</a:t>
            </a:r>
            <a:endParaRPr lang="en-US" sz="1400" dirty="0"/>
          </a:p>
        </p:txBody>
      </p:sp>
      <p:sp>
        <p:nvSpPr>
          <p:cNvPr id="35" name="Text 33"/>
          <p:cNvSpPr/>
          <p:nvPr/>
        </p:nvSpPr>
        <p:spPr>
          <a:xfrm>
            <a:off x="793790" y="5595223"/>
            <a:ext cx="13042821" cy="495776"/>
          </a:xfrm>
          <a:prstGeom prst="rect">
            <a:avLst/>
          </a:prstGeom>
          <a:noFill/>
          <a:ln/>
        </p:spPr>
        <p:txBody>
          <a:bodyPr wrap="square" lIns="0" tIns="0" rIns="0" bIns="0" rtlCol="0" anchor="t"/>
          <a:lstStyle/>
          <a:p>
            <a:pPr marL="0" indent="0" algn="l">
              <a:lnSpc>
                <a:spcPts val="2550"/>
              </a:lnSpc>
              <a:buNone/>
            </a:pPr>
            <a:endParaRPr lang="en-US" sz="1600" dirty="0"/>
          </a:p>
        </p:txBody>
      </p:sp>
      <p:pic>
        <p:nvPicPr>
          <p:cNvPr id="36" name="Image 0" descr="preencoded.png"/>
          <p:cNvPicPr>
            <a:picLocks noChangeAspect="1"/>
          </p:cNvPicPr>
          <p:nvPr/>
        </p:nvPicPr>
        <p:blipFill>
          <a:blip r:embed="rId3"/>
          <a:stretch>
            <a:fillRect/>
          </a:stretch>
        </p:blipFill>
        <p:spPr>
          <a:xfrm>
            <a:off x="793790" y="5595223"/>
            <a:ext cx="13042821" cy="495776"/>
          </a:xfrm>
          <a:prstGeom prst="rect">
            <a:avLst/>
          </a:prstGeom>
        </p:spPr>
      </p:pic>
      <p:sp>
        <p:nvSpPr>
          <p:cNvPr id="37" name="Text 34"/>
          <p:cNvSpPr/>
          <p:nvPr/>
        </p:nvSpPr>
        <p:spPr>
          <a:xfrm>
            <a:off x="793790" y="6320552"/>
            <a:ext cx="13042821" cy="311706"/>
          </a:xfrm>
          <a:prstGeom prst="rect">
            <a:avLst/>
          </a:prstGeom>
          <a:noFill/>
          <a:ln/>
        </p:spPr>
        <p:txBody>
          <a:bodyPr wrap="none" lIns="0" tIns="0" rIns="0" bIns="0" rtlCol="0" anchor="t"/>
          <a:lstStyle/>
          <a:p>
            <a:pPr marL="0" indent="0" algn="l">
              <a:lnSpc>
                <a:spcPts val="2550"/>
              </a:lnSpc>
              <a:buNone/>
            </a:pPr>
            <a:endParaRPr lang="en-US" sz="1600" dirty="0"/>
          </a:p>
        </p:txBody>
      </p:sp>
      <p:pic>
        <p:nvPicPr>
          <p:cNvPr id="38" name="Image 1" descr="preencoded.png"/>
          <p:cNvPicPr>
            <a:picLocks noChangeAspect="1"/>
          </p:cNvPicPr>
          <p:nvPr/>
        </p:nvPicPr>
        <p:blipFill>
          <a:blip r:embed="rId4"/>
          <a:stretch>
            <a:fillRect/>
          </a:stretch>
        </p:blipFill>
        <p:spPr>
          <a:xfrm>
            <a:off x="793790" y="6320552"/>
            <a:ext cx="13042821" cy="311706"/>
          </a:xfrm>
          <a:prstGeom prst="rect">
            <a:avLst/>
          </a:prstGeom>
        </p:spPr>
      </p:pic>
      <p:sp>
        <p:nvSpPr>
          <p:cNvPr id="39" name="Text 35"/>
          <p:cNvSpPr/>
          <p:nvPr/>
        </p:nvSpPr>
        <p:spPr>
          <a:xfrm>
            <a:off x="793790" y="6861810"/>
            <a:ext cx="13042821" cy="580549"/>
          </a:xfrm>
          <a:prstGeom prst="rect">
            <a:avLst/>
          </a:prstGeom>
          <a:noFill/>
          <a:ln/>
        </p:spPr>
        <p:txBody>
          <a:bodyPr wrap="squar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The impact of the single large error is dramatically amplified due to the squaring term. The MSE jumps from 1 to 80.8, and RMSE increases from 1 to approximately 8.98, demonstrating how MSE/RMSE </a:t>
            </a:r>
            <a:r>
              <a:rPr lang="en-US" sz="1400" dirty="0">
                <a:solidFill>
                  <a:srgbClr val="6F7F71"/>
                </a:solidFill>
                <a:latin typeface="Noto Serif" pitchFamily="34" charset="0"/>
                <a:ea typeface="Noto Serif" pitchFamily="34" charset="-122"/>
                <a:cs typeface="Noto Serif" pitchFamily="34" charset="-120"/>
              </a:rPr>
              <a:t>heavily penalize significant deviations</a:t>
            </a:r>
            <a:r>
              <a:rPr lang="en-US" sz="1400" dirty="0">
                <a:solidFill>
                  <a:srgbClr val="4C4C4C"/>
                </a:solidFill>
                <a:latin typeface="Noto Serif" pitchFamily="34" charset="0"/>
                <a:ea typeface="Noto Serif" pitchFamily="34" charset="-122"/>
                <a:cs typeface="Noto Serif" pitchFamily="34" charset="-120"/>
              </a:rPr>
              <a: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5813" y="617458"/>
            <a:ext cx="5944553" cy="596503"/>
          </a:xfrm>
          <a:prstGeom prst="rect">
            <a:avLst/>
          </a:prstGeom>
          <a:noFill/>
          <a:ln/>
        </p:spPr>
        <p:txBody>
          <a:bodyPr wrap="none" lIns="0" tIns="0" rIns="0" bIns="0" rtlCol="0" anchor="t"/>
          <a:lstStyle/>
          <a:p>
            <a:pPr marL="0" indent="0" algn="l">
              <a:lnSpc>
                <a:spcPts val="4650"/>
              </a:lnSpc>
              <a:buNone/>
            </a:pPr>
            <a:r>
              <a:rPr lang="en-US" sz="3750" dirty="0">
                <a:solidFill>
                  <a:srgbClr val="3A3A3A"/>
                </a:solidFill>
                <a:latin typeface="Noto Serif Medium" pitchFamily="34" charset="0"/>
                <a:ea typeface="Noto Serif Medium" pitchFamily="34" charset="-122"/>
                <a:cs typeface="Noto Serif Medium" pitchFamily="34" charset="-120"/>
              </a:rPr>
              <a:t>Why This Penalty Matters</a:t>
            </a:r>
            <a:endParaRPr lang="en-US" sz="3750" dirty="0"/>
          </a:p>
        </p:txBody>
      </p:sp>
      <p:sp>
        <p:nvSpPr>
          <p:cNvPr id="3" name="Text 1"/>
          <p:cNvSpPr/>
          <p:nvPr/>
        </p:nvSpPr>
        <p:spPr>
          <a:xfrm>
            <a:off x="785813" y="1595676"/>
            <a:ext cx="13058775" cy="305276"/>
          </a:xfrm>
          <a:prstGeom prst="rect">
            <a:avLst/>
          </a:prstGeom>
          <a:noFill/>
          <a:ln/>
        </p:spPr>
        <p:txBody>
          <a:bodyPr wrap="none" lIns="0" tIns="0" rIns="0" bIns="0" rtlCol="0" anchor="t"/>
          <a:lstStyle/>
          <a:p>
            <a:pPr marL="0" indent="0" algn="l">
              <a:lnSpc>
                <a:spcPts val="2400"/>
              </a:lnSpc>
              <a:buNone/>
            </a:pPr>
            <a:r>
              <a:rPr lang="en-US" sz="1500" dirty="0">
                <a:solidFill>
                  <a:srgbClr val="4C4C4C"/>
                </a:solidFill>
                <a:latin typeface="Noto Serif" pitchFamily="34" charset="0"/>
                <a:ea typeface="Noto Serif" pitchFamily="34" charset="-122"/>
                <a:cs typeface="Noto Serif" pitchFamily="34" charset="-120"/>
              </a:rPr>
              <a:t>The inherent penalty for large errors in MSE and RMSE serves a critical purpose in model evaluation and development.</a:t>
            </a:r>
            <a:endParaRPr lang="en-US" sz="1500" dirty="0"/>
          </a:p>
        </p:txBody>
      </p:sp>
      <p:sp>
        <p:nvSpPr>
          <p:cNvPr id="4" name="Shape 2"/>
          <p:cNvSpPr/>
          <p:nvPr/>
        </p:nvSpPr>
        <p:spPr>
          <a:xfrm>
            <a:off x="785813" y="2115622"/>
            <a:ext cx="13058775" cy="1145381"/>
          </a:xfrm>
          <a:prstGeom prst="roundRect">
            <a:avLst>
              <a:gd name="adj" fmla="val 6999"/>
            </a:avLst>
          </a:prstGeom>
          <a:solidFill>
            <a:srgbClr val="FDFBF7"/>
          </a:solidFill>
          <a:ln w="22860">
            <a:solidFill>
              <a:srgbClr val="E6DED2"/>
            </a:solidFill>
            <a:prstDash val="solid"/>
          </a:ln>
          <a:effectLst>
            <a:outerShdw dist="17780" dir="2700000" algn="bl" rotWithShape="0">
              <a:srgbClr val="E6DED2">
                <a:alpha val="100000"/>
              </a:srgbClr>
            </a:outerShdw>
          </a:effectLst>
        </p:spPr>
      </p:sp>
      <p:sp>
        <p:nvSpPr>
          <p:cNvPr id="5" name="Shape 3"/>
          <p:cNvSpPr/>
          <p:nvPr/>
        </p:nvSpPr>
        <p:spPr>
          <a:xfrm>
            <a:off x="808673" y="2138482"/>
            <a:ext cx="763429" cy="1099661"/>
          </a:xfrm>
          <a:prstGeom prst="roundRect">
            <a:avLst>
              <a:gd name="adj" fmla="val 6907"/>
            </a:avLst>
          </a:prstGeom>
          <a:solidFill>
            <a:srgbClr val="E6DED2">
              <a:alpha val="50000"/>
            </a:srgbClr>
          </a:solidFill>
          <a:ln/>
          <a:effectLst>
            <a:outerShdw dist="17780" dir="2700000" algn="bl" rotWithShape="0">
              <a:srgbClr val="CCC4B8">
                <a:alpha val="100000"/>
              </a:srgbClr>
            </a:outerShdw>
          </a:effectLst>
        </p:spPr>
      </p:sp>
      <p:sp>
        <p:nvSpPr>
          <p:cNvPr id="6" name="Text 4"/>
          <p:cNvSpPr/>
          <p:nvPr/>
        </p:nvSpPr>
        <p:spPr>
          <a:xfrm>
            <a:off x="1043464" y="2509361"/>
            <a:ext cx="286226" cy="357783"/>
          </a:xfrm>
          <a:prstGeom prst="rect">
            <a:avLst/>
          </a:prstGeom>
          <a:noFill/>
          <a:ln/>
        </p:spPr>
        <p:txBody>
          <a:bodyPr wrap="none" lIns="0" tIns="0" rIns="0" bIns="0" rtlCol="0" anchor="t"/>
          <a:lstStyle/>
          <a:p>
            <a:pPr marL="0" indent="0" algn="l">
              <a:lnSpc>
                <a:spcPts val="2250"/>
              </a:lnSpc>
              <a:buNone/>
            </a:pPr>
            <a:r>
              <a:rPr lang="en-US" sz="2250" dirty="0">
                <a:solidFill>
                  <a:srgbClr val="000000"/>
                </a:solidFill>
                <a:latin typeface="Noto Serif Medium" pitchFamily="34" charset="0"/>
                <a:ea typeface="Noto Serif Medium" pitchFamily="34" charset="-122"/>
                <a:cs typeface="Noto Serif Medium" pitchFamily="34" charset="-120"/>
              </a:rPr>
              <a:t>1</a:t>
            </a:r>
            <a:endParaRPr lang="en-US" sz="2250" dirty="0"/>
          </a:p>
        </p:txBody>
      </p:sp>
      <p:sp>
        <p:nvSpPr>
          <p:cNvPr id="7" name="Text 5"/>
          <p:cNvSpPr/>
          <p:nvPr/>
        </p:nvSpPr>
        <p:spPr>
          <a:xfrm>
            <a:off x="1762958" y="2329339"/>
            <a:ext cx="2851785" cy="298252"/>
          </a:xfrm>
          <a:prstGeom prst="rect">
            <a:avLst/>
          </a:prstGeom>
          <a:noFill/>
          <a:ln/>
        </p:spPr>
        <p:txBody>
          <a:bodyPr wrap="none" lIns="0" tIns="0" rIns="0" bIns="0" rtlCol="0" anchor="t"/>
          <a:lstStyle/>
          <a:p>
            <a:pPr marL="0" indent="0" algn="l">
              <a:lnSpc>
                <a:spcPts val="2300"/>
              </a:lnSpc>
              <a:buNone/>
            </a:pPr>
            <a:r>
              <a:rPr lang="en-US" sz="1850" dirty="0">
                <a:solidFill>
                  <a:srgbClr val="4C4C4C"/>
                </a:solidFill>
                <a:latin typeface="Noto Serif Medium" pitchFamily="34" charset="0"/>
                <a:ea typeface="Noto Serif Medium" pitchFamily="34" charset="-122"/>
                <a:cs typeface="Noto Serif Medium" pitchFamily="34" charset="-120"/>
              </a:rPr>
              <a:t>Prevents Costly Mistakes</a:t>
            </a:r>
            <a:endParaRPr lang="en-US" sz="1850" dirty="0"/>
          </a:p>
        </p:txBody>
      </p:sp>
      <p:sp>
        <p:nvSpPr>
          <p:cNvPr id="8" name="Text 6"/>
          <p:cNvSpPr/>
          <p:nvPr/>
        </p:nvSpPr>
        <p:spPr>
          <a:xfrm>
            <a:off x="1762958" y="2742009"/>
            <a:ext cx="12058769" cy="305276"/>
          </a:xfrm>
          <a:prstGeom prst="rect">
            <a:avLst/>
          </a:prstGeom>
          <a:noFill/>
          <a:ln/>
        </p:spPr>
        <p:txBody>
          <a:bodyPr wrap="none" lIns="0" tIns="0" rIns="0" bIns="0" rtlCol="0" anchor="t"/>
          <a:lstStyle/>
          <a:p>
            <a:pPr marL="0" indent="0" algn="l">
              <a:lnSpc>
                <a:spcPts val="2400"/>
              </a:lnSpc>
              <a:buNone/>
            </a:pPr>
            <a:r>
              <a:rPr lang="en-US" sz="1500" dirty="0">
                <a:solidFill>
                  <a:srgbClr val="4C4C4C"/>
                </a:solidFill>
                <a:latin typeface="Noto Serif" pitchFamily="34" charset="0"/>
                <a:ea typeface="Noto Serif" pitchFamily="34" charset="-122"/>
                <a:cs typeface="Noto Serif" pitchFamily="34" charset="-120"/>
              </a:rPr>
              <a:t>Ensures models don't just perform well on average but </a:t>
            </a:r>
            <a:r>
              <a:rPr lang="en-US" sz="1500" dirty="0">
                <a:solidFill>
                  <a:srgbClr val="A8B8A2"/>
                </a:solidFill>
                <a:latin typeface="Noto Serif" pitchFamily="34" charset="0"/>
                <a:ea typeface="Noto Serif" pitchFamily="34" charset="-122"/>
                <a:cs typeface="Noto Serif" pitchFamily="34" charset="-120"/>
              </a:rPr>
              <a:t>actively avoid catastrophic individual errors</a:t>
            </a:r>
            <a:r>
              <a:rPr lang="en-US" sz="1500" dirty="0">
                <a:solidFill>
                  <a:srgbClr val="4C4C4C"/>
                </a:solidFill>
                <a:latin typeface="Noto Serif" pitchFamily="34" charset="0"/>
                <a:ea typeface="Noto Serif" pitchFamily="34" charset="-122"/>
                <a:cs typeface="Noto Serif" pitchFamily="34" charset="-120"/>
              </a:rPr>
              <a:t>.</a:t>
            </a:r>
            <a:endParaRPr lang="en-US" sz="1500" dirty="0"/>
          </a:p>
        </p:txBody>
      </p:sp>
      <p:sp>
        <p:nvSpPr>
          <p:cNvPr id="9" name="Shape 7"/>
          <p:cNvSpPr/>
          <p:nvPr/>
        </p:nvSpPr>
        <p:spPr>
          <a:xfrm>
            <a:off x="785813" y="3451860"/>
            <a:ext cx="13058775" cy="1145381"/>
          </a:xfrm>
          <a:prstGeom prst="roundRect">
            <a:avLst>
              <a:gd name="adj" fmla="val 6999"/>
            </a:avLst>
          </a:prstGeom>
          <a:solidFill>
            <a:srgbClr val="FDFBF7"/>
          </a:solidFill>
          <a:ln w="22860">
            <a:solidFill>
              <a:srgbClr val="E6DED2"/>
            </a:solidFill>
            <a:prstDash val="solid"/>
          </a:ln>
          <a:effectLst>
            <a:outerShdw dist="17780" dir="2700000" algn="bl" rotWithShape="0">
              <a:srgbClr val="E6DED2">
                <a:alpha val="100000"/>
              </a:srgbClr>
            </a:outerShdw>
          </a:effectLst>
        </p:spPr>
      </p:sp>
      <p:sp>
        <p:nvSpPr>
          <p:cNvPr id="10" name="Shape 8"/>
          <p:cNvSpPr/>
          <p:nvPr/>
        </p:nvSpPr>
        <p:spPr>
          <a:xfrm>
            <a:off x="808673" y="3474720"/>
            <a:ext cx="763429" cy="1099661"/>
          </a:xfrm>
          <a:prstGeom prst="roundRect">
            <a:avLst>
              <a:gd name="adj" fmla="val 6907"/>
            </a:avLst>
          </a:prstGeom>
          <a:solidFill>
            <a:srgbClr val="E6DED2">
              <a:alpha val="50000"/>
            </a:srgbClr>
          </a:solidFill>
          <a:ln/>
          <a:effectLst>
            <a:outerShdw dist="17780" dir="2700000" algn="bl" rotWithShape="0">
              <a:srgbClr val="CCC4B8">
                <a:alpha val="100000"/>
              </a:srgbClr>
            </a:outerShdw>
          </a:effectLst>
        </p:spPr>
      </p:sp>
      <p:sp>
        <p:nvSpPr>
          <p:cNvPr id="11" name="Text 9"/>
          <p:cNvSpPr/>
          <p:nvPr/>
        </p:nvSpPr>
        <p:spPr>
          <a:xfrm>
            <a:off x="1043464" y="3845600"/>
            <a:ext cx="286226" cy="357783"/>
          </a:xfrm>
          <a:prstGeom prst="rect">
            <a:avLst/>
          </a:prstGeom>
          <a:noFill/>
          <a:ln/>
        </p:spPr>
        <p:txBody>
          <a:bodyPr wrap="none" lIns="0" tIns="0" rIns="0" bIns="0" rtlCol="0" anchor="t"/>
          <a:lstStyle/>
          <a:p>
            <a:pPr marL="0" indent="0" algn="l">
              <a:lnSpc>
                <a:spcPts val="2250"/>
              </a:lnSpc>
              <a:buNone/>
            </a:pPr>
            <a:r>
              <a:rPr lang="en-US" sz="2250" dirty="0">
                <a:solidFill>
                  <a:srgbClr val="000000"/>
                </a:solidFill>
                <a:latin typeface="Noto Serif Medium" pitchFamily="34" charset="0"/>
                <a:ea typeface="Noto Serif Medium" pitchFamily="34" charset="-122"/>
                <a:cs typeface="Noto Serif Medium" pitchFamily="34" charset="-120"/>
              </a:rPr>
              <a:t>2</a:t>
            </a:r>
            <a:endParaRPr lang="en-US" sz="2250" dirty="0"/>
          </a:p>
        </p:txBody>
      </p:sp>
      <p:sp>
        <p:nvSpPr>
          <p:cNvPr id="12" name="Text 10"/>
          <p:cNvSpPr/>
          <p:nvPr/>
        </p:nvSpPr>
        <p:spPr>
          <a:xfrm>
            <a:off x="1762958" y="3665577"/>
            <a:ext cx="2460188" cy="298252"/>
          </a:xfrm>
          <a:prstGeom prst="rect">
            <a:avLst/>
          </a:prstGeom>
          <a:noFill/>
          <a:ln/>
        </p:spPr>
        <p:txBody>
          <a:bodyPr wrap="none" lIns="0" tIns="0" rIns="0" bIns="0" rtlCol="0" anchor="t"/>
          <a:lstStyle/>
          <a:p>
            <a:pPr marL="0" indent="0" algn="l">
              <a:lnSpc>
                <a:spcPts val="2300"/>
              </a:lnSpc>
              <a:buNone/>
            </a:pPr>
            <a:r>
              <a:rPr lang="en-US" sz="1850" dirty="0">
                <a:solidFill>
                  <a:srgbClr val="4C4C4C"/>
                </a:solidFill>
                <a:latin typeface="Noto Serif Medium" pitchFamily="34" charset="0"/>
                <a:ea typeface="Noto Serif Medium" pitchFamily="34" charset="-122"/>
                <a:cs typeface="Noto Serif Medium" pitchFamily="34" charset="-120"/>
              </a:rPr>
              <a:t>Encourages Accuracy</a:t>
            </a:r>
            <a:endParaRPr lang="en-US" sz="1850" dirty="0"/>
          </a:p>
        </p:txBody>
      </p:sp>
      <p:sp>
        <p:nvSpPr>
          <p:cNvPr id="13" name="Text 11"/>
          <p:cNvSpPr/>
          <p:nvPr/>
        </p:nvSpPr>
        <p:spPr>
          <a:xfrm>
            <a:off x="1762958" y="4078248"/>
            <a:ext cx="12058769" cy="305276"/>
          </a:xfrm>
          <a:prstGeom prst="rect">
            <a:avLst/>
          </a:prstGeom>
          <a:noFill/>
          <a:ln/>
        </p:spPr>
        <p:txBody>
          <a:bodyPr wrap="none" lIns="0" tIns="0" rIns="0" bIns="0" rtlCol="0" anchor="t"/>
          <a:lstStyle/>
          <a:p>
            <a:pPr marL="0" indent="0" algn="l">
              <a:lnSpc>
                <a:spcPts val="2400"/>
              </a:lnSpc>
              <a:buNone/>
            </a:pPr>
            <a:r>
              <a:rPr lang="en-US" sz="1500" dirty="0">
                <a:solidFill>
                  <a:srgbClr val="4C4C4C"/>
                </a:solidFill>
                <a:latin typeface="Noto Serif" pitchFamily="34" charset="0"/>
                <a:ea typeface="Noto Serif" pitchFamily="34" charset="-122"/>
                <a:cs typeface="Noto Serif" pitchFamily="34" charset="-120"/>
              </a:rPr>
              <a:t>Drives models to be more precise, as even a few large errors will significantly impact the overall score.</a:t>
            </a:r>
            <a:endParaRPr lang="en-US" sz="1500" dirty="0"/>
          </a:p>
        </p:txBody>
      </p:sp>
      <p:sp>
        <p:nvSpPr>
          <p:cNvPr id="14" name="Shape 12"/>
          <p:cNvSpPr/>
          <p:nvPr/>
        </p:nvSpPr>
        <p:spPr>
          <a:xfrm>
            <a:off x="785813" y="4788098"/>
            <a:ext cx="13058775" cy="2309217"/>
          </a:xfrm>
          <a:prstGeom prst="roundRect">
            <a:avLst>
              <a:gd name="adj" fmla="val 3471"/>
            </a:avLst>
          </a:prstGeom>
          <a:solidFill>
            <a:srgbClr val="FDFBF7"/>
          </a:solidFill>
          <a:ln w="22860">
            <a:solidFill>
              <a:srgbClr val="E6DED2"/>
            </a:solidFill>
            <a:prstDash val="solid"/>
          </a:ln>
          <a:effectLst>
            <a:outerShdw dist="17780" dir="2700000" algn="bl" rotWithShape="0">
              <a:srgbClr val="E6DED2">
                <a:alpha val="100000"/>
              </a:srgbClr>
            </a:outerShdw>
          </a:effectLst>
        </p:spPr>
      </p:sp>
      <p:sp>
        <p:nvSpPr>
          <p:cNvPr id="15" name="Shape 13"/>
          <p:cNvSpPr/>
          <p:nvPr/>
        </p:nvSpPr>
        <p:spPr>
          <a:xfrm>
            <a:off x="808673" y="4810958"/>
            <a:ext cx="763429" cy="2263497"/>
          </a:xfrm>
          <a:prstGeom prst="roundRect">
            <a:avLst>
              <a:gd name="adj" fmla="val 6907"/>
            </a:avLst>
          </a:prstGeom>
          <a:solidFill>
            <a:srgbClr val="E6DED2">
              <a:alpha val="50000"/>
            </a:srgbClr>
          </a:solidFill>
          <a:ln/>
          <a:effectLst>
            <a:outerShdw dist="17780" dir="2700000" algn="bl" rotWithShape="0">
              <a:srgbClr val="CCC4B8">
                <a:alpha val="100000"/>
              </a:srgbClr>
            </a:outerShdw>
          </a:effectLst>
        </p:spPr>
      </p:sp>
      <p:sp>
        <p:nvSpPr>
          <p:cNvPr id="16" name="Text 14"/>
          <p:cNvSpPr/>
          <p:nvPr/>
        </p:nvSpPr>
        <p:spPr>
          <a:xfrm>
            <a:off x="1043464" y="5763816"/>
            <a:ext cx="286226" cy="357783"/>
          </a:xfrm>
          <a:prstGeom prst="rect">
            <a:avLst/>
          </a:prstGeom>
          <a:noFill/>
          <a:ln/>
        </p:spPr>
        <p:txBody>
          <a:bodyPr wrap="none" lIns="0" tIns="0" rIns="0" bIns="0" rtlCol="0" anchor="t"/>
          <a:lstStyle/>
          <a:p>
            <a:pPr marL="0" indent="0" algn="l">
              <a:lnSpc>
                <a:spcPts val="2250"/>
              </a:lnSpc>
              <a:buNone/>
            </a:pPr>
            <a:r>
              <a:rPr lang="en-US" sz="2250" dirty="0">
                <a:solidFill>
                  <a:srgbClr val="000000"/>
                </a:solidFill>
                <a:latin typeface="Noto Serif Medium" pitchFamily="34" charset="0"/>
                <a:ea typeface="Noto Serif Medium" pitchFamily="34" charset="-122"/>
                <a:cs typeface="Noto Serif Medium" pitchFamily="34" charset="-120"/>
              </a:rPr>
              <a:t>3</a:t>
            </a:r>
            <a:endParaRPr lang="en-US" sz="2250" dirty="0"/>
          </a:p>
        </p:txBody>
      </p:sp>
      <p:sp>
        <p:nvSpPr>
          <p:cNvPr id="17" name="Text 15"/>
          <p:cNvSpPr/>
          <p:nvPr/>
        </p:nvSpPr>
        <p:spPr>
          <a:xfrm>
            <a:off x="1762958" y="5001816"/>
            <a:ext cx="3309699" cy="298252"/>
          </a:xfrm>
          <a:prstGeom prst="rect">
            <a:avLst/>
          </a:prstGeom>
          <a:noFill/>
          <a:ln/>
        </p:spPr>
        <p:txBody>
          <a:bodyPr wrap="none" lIns="0" tIns="0" rIns="0" bIns="0" rtlCol="0" anchor="t"/>
          <a:lstStyle/>
          <a:p>
            <a:pPr marL="0" indent="0" algn="l">
              <a:lnSpc>
                <a:spcPts val="2300"/>
              </a:lnSpc>
              <a:buNone/>
            </a:pPr>
            <a:r>
              <a:rPr lang="en-US" sz="1850" dirty="0">
                <a:solidFill>
                  <a:srgbClr val="4C4C4C"/>
                </a:solidFill>
                <a:latin typeface="Noto Serif Medium" pitchFamily="34" charset="0"/>
                <a:ea typeface="Noto Serif Medium" pitchFamily="34" charset="-122"/>
                <a:cs typeface="Noto Serif Medium" pitchFamily="34" charset="-120"/>
              </a:rPr>
              <a:t>Critical in High-Stakes Fields</a:t>
            </a:r>
            <a:endParaRPr lang="en-US" sz="1850" dirty="0"/>
          </a:p>
        </p:txBody>
      </p:sp>
      <p:sp>
        <p:nvSpPr>
          <p:cNvPr id="18" name="Text 16"/>
          <p:cNvSpPr/>
          <p:nvPr/>
        </p:nvSpPr>
        <p:spPr>
          <a:xfrm>
            <a:off x="1762958" y="5414486"/>
            <a:ext cx="12058769" cy="305276"/>
          </a:xfrm>
          <a:prstGeom prst="rect">
            <a:avLst/>
          </a:prstGeom>
          <a:noFill/>
          <a:ln/>
        </p:spPr>
        <p:txBody>
          <a:bodyPr wrap="none" lIns="0" tIns="0" rIns="0" bIns="0" rtlCol="0" anchor="t"/>
          <a:lstStyle/>
          <a:p>
            <a:pPr marL="0" indent="0" algn="l">
              <a:lnSpc>
                <a:spcPts val="2400"/>
              </a:lnSpc>
              <a:buNone/>
            </a:pPr>
            <a:r>
              <a:rPr lang="en-US" sz="1500" dirty="0">
                <a:solidFill>
                  <a:srgbClr val="4C4C4C"/>
                </a:solidFill>
                <a:latin typeface="Noto Serif" pitchFamily="34" charset="0"/>
                <a:ea typeface="Noto Serif" pitchFamily="34" charset="-122"/>
                <a:cs typeface="Noto Serif" pitchFamily="34" charset="-120"/>
              </a:rPr>
              <a:t>Essential when large prediction errors can lead to:</a:t>
            </a:r>
            <a:endParaRPr lang="en-US" sz="1500" dirty="0"/>
          </a:p>
        </p:txBody>
      </p:sp>
      <p:sp>
        <p:nvSpPr>
          <p:cNvPr id="19" name="Text 17"/>
          <p:cNvSpPr/>
          <p:nvPr/>
        </p:nvSpPr>
        <p:spPr>
          <a:xfrm>
            <a:off x="1762958" y="5834182"/>
            <a:ext cx="12058769" cy="305276"/>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4C4C4C"/>
                </a:solidFill>
                <a:latin typeface="Noto Serif" pitchFamily="34" charset="0"/>
                <a:ea typeface="Noto Serif" pitchFamily="34" charset="-122"/>
                <a:cs typeface="Noto Serif" pitchFamily="34" charset="-120"/>
              </a:rPr>
              <a:t>Financial Loss:</a:t>
            </a:r>
            <a:r>
              <a:rPr lang="en-US" sz="1500" dirty="0">
                <a:solidFill>
                  <a:srgbClr val="4C4C4C"/>
                </a:solidFill>
                <a:latin typeface="Noto Serif" pitchFamily="34" charset="0"/>
                <a:ea typeface="Noto Serif" pitchFamily="34" charset="-122"/>
                <a:cs typeface="Noto Serif" pitchFamily="34" charset="-120"/>
              </a:rPr>
              <a:t> Inaccurate stock market predictions.</a:t>
            </a:r>
            <a:endParaRPr lang="en-US" sz="1500" dirty="0"/>
          </a:p>
        </p:txBody>
      </p:sp>
      <p:sp>
        <p:nvSpPr>
          <p:cNvPr id="20" name="Text 18"/>
          <p:cNvSpPr/>
          <p:nvPr/>
        </p:nvSpPr>
        <p:spPr>
          <a:xfrm>
            <a:off x="1762958" y="6206252"/>
            <a:ext cx="12058769" cy="305276"/>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4C4C4C"/>
                </a:solidFill>
                <a:latin typeface="Noto Serif" pitchFamily="34" charset="0"/>
                <a:ea typeface="Noto Serif" pitchFamily="34" charset="-122"/>
                <a:cs typeface="Noto Serif" pitchFamily="34" charset="-120"/>
              </a:rPr>
              <a:t>Safety Issues:</a:t>
            </a:r>
            <a:r>
              <a:rPr lang="en-US" sz="1500" dirty="0">
                <a:solidFill>
                  <a:srgbClr val="4C4C4C"/>
                </a:solidFill>
                <a:latin typeface="Noto Serif" pitchFamily="34" charset="0"/>
                <a:ea typeface="Noto Serif" pitchFamily="34" charset="-122"/>
                <a:cs typeface="Noto Serif" pitchFamily="34" charset="-120"/>
              </a:rPr>
              <a:t> Misjudging critical engineering parameters.</a:t>
            </a:r>
            <a:endParaRPr lang="en-US" sz="1500" dirty="0"/>
          </a:p>
        </p:txBody>
      </p:sp>
      <p:sp>
        <p:nvSpPr>
          <p:cNvPr id="21" name="Text 19"/>
          <p:cNvSpPr/>
          <p:nvPr/>
        </p:nvSpPr>
        <p:spPr>
          <a:xfrm>
            <a:off x="1762958" y="6578322"/>
            <a:ext cx="12058769" cy="305276"/>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4C4C4C"/>
                </a:solidFill>
                <a:latin typeface="Noto Serif" pitchFamily="34" charset="0"/>
                <a:ea typeface="Noto Serif" pitchFamily="34" charset="-122"/>
                <a:cs typeface="Noto Serif" pitchFamily="34" charset="-120"/>
              </a:rPr>
              <a:t>Poor User Experience:</a:t>
            </a:r>
            <a:r>
              <a:rPr lang="en-US" sz="1500" dirty="0">
                <a:solidFill>
                  <a:srgbClr val="4C4C4C"/>
                </a:solidFill>
                <a:latin typeface="Noto Serif" pitchFamily="34" charset="0"/>
                <a:ea typeface="Noto Serif" pitchFamily="34" charset="-122"/>
                <a:cs typeface="Noto Serif" pitchFamily="34" charset="-120"/>
              </a:rPr>
              <a:t> Highly delayed delivery estimates.</a:t>
            </a:r>
            <a:endParaRPr lang="en-US" sz="1500" dirty="0"/>
          </a:p>
        </p:txBody>
      </p:sp>
      <p:sp>
        <p:nvSpPr>
          <p:cNvPr id="22" name="Text 20"/>
          <p:cNvSpPr/>
          <p:nvPr/>
        </p:nvSpPr>
        <p:spPr>
          <a:xfrm>
            <a:off x="785813" y="7311985"/>
            <a:ext cx="13058775" cy="305276"/>
          </a:xfrm>
          <a:prstGeom prst="rect">
            <a:avLst/>
          </a:prstGeom>
          <a:noFill/>
          <a:ln/>
        </p:spPr>
        <p:txBody>
          <a:bodyPr wrap="none" lIns="0" tIns="0" rIns="0" bIns="0" rtlCol="0" anchor="t"/>
          <a:lstStyle/>
          <a:p>
            <a:pPr marL="0" indent="0" algn="l">
              <a:lnSpc>
                <a:spcPts val="2400"/>
              </a:lnSpc>
              <a:buNone/>
            </a:pPr>
            <a:r>
              <a:rPr lang="en-US" sz="1500" dirty="0">
                <a:solidFill>
                  <a:srgbClr val="4C4C4C"/>
                </a:solidFill>
                <a:latin typeface="Noto Serif" pitchFamily="34" charset="0"/>
                <a:ea typeface="Noto Serif" pitchFamily="34" charset="-122"/>
                <a:cs typeface="Noto Serif" pitchFamily="34" charset="-120"/>
              </a:rPr>
              <a:t>By heavily weighting larger discrepancies, MSE and RMSE guide models toward </a:t>
            </a:r>
            <a:r>
              <a:rPr lang="en-US" sz="1500" dirty="0">
                <a:solidFill>
                  <a:srgbClr val="9C9283"/>
                </a:solidFill>
                <a:latin typeface="Noto Serif" pitchFamily="34" charset="0"/>
                <a:ea typeface="Noto Serif" pitchFamily="34" charset="-122"/>
                <a:cs typeface="Noto Serif" pitchFamily="34" charset="-120"/>
              </a:rPr>
              <a:t>minimizing the most impactful errors</a:t>
            </a:r>
            <a:r>
              <a:rPr lang="en-US" sz="1500" dirty="0">
                <a:solidFill>
                  <a:srgbClr val="4C4C4C"/>
                </a:solidFill>
                <a:latin typeface="Noto Serif" pitchFamily="34" charset="0"/>
                <a:ea typeface="Noto Serif" pitchFamily="34" charset="-122"/>
                <a:cs typeface="Noto Serif" pitchFamily="34" charset="-120"/>
              </a:rPr>
              <a: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180862"/>
            <a:ext cx="8141851"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Limitations of MSE and RMSE</a:t>
            </a:r>
            <a:endParaRPr lang="en-US" sz="4450" dirty="0"/>
          </a:p>
        </p:txBody>
      </p:sp>
      <p:sp>
        <p:nvSpPr>
          <p:cNvPr id="3" name="Text 1"/>
          <p:cNvSpPr/>
          <p:nvPr/>
        </p:nvSpPr>
        <p:spPr>
          <a:xfrm>
            <a:off x="793790" y="234326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While powerful, MSE and RMSE have certain drawbacks that data scientists must consider.</a:t>
            </a:r>
            <a:endParaRPr lang="en-US" sz="1750" dirty="0"/>
          </a:p>
        </p:txBody>
      </p:sp>
      <p:sp>
        <p:nvSpPr>
          <p:cNvPr id="4" name="Shape 2"/>
          <p:cNvSpPr/>
          <p:nvPr/>
        </p:nvSpPr>
        <p:spPr>
          <a:xfrm>
            <a:off x="793790" y="3301484"/>
            <a:ext cx="4196358" cy="2766298"/>
          </a:xfrm>
          <a:prstGeom prst="roundRect">
            <a:avLst>
              <a:gd name="adj" fmla="val 5289"/>
            </a:avLst>
          </a:prstGeom>
          <a:solidFill>
            <a:srgbClr val="FDFBF7"/>
          </a:solidFill>
          <a:ln/>
          <a:effectLst>
            <a:outerShdw dist="20320" dir="2700000" algn="bl" rotWithShape="0">
              <a:srgbClr val="E6DED2">
                <a:alpha val="100000"/>
              </a:srgbClr>
            </a:outerShdw>
          </a:effectLst>
        </p:spPr>
      </p:sp>
      <p:sp>
        <p:nvSpPr>
          <p:cNvPr id="5" name="Shape 3"/>
          <p:cNvSpPr/>
          <p:nvPr/>
        </p:nvSpPr>
        <p:spPr>
          <a:xfrm>
            <a:off x="793790" y="3271004"/>
            <a:ext cx="4196358" cy="121920"/>
          </a:xfrm>
          <a:prstGeom prst="roundRect">
            <a:avLst>
              <a:gd name="adj" fmla="val 78139"/>
            </a:avLst>
          </a:prstGeom>
          <a:solidFill>
            <a:srgbClr val="E6DED2"/>
          </a:solidFill>
          <a:ln/>
        </p:spPr>
      </p:sp>
      <p:sp>
        <p:nvSpPr>
          <p:cNvPr id="6" name="Shape 4"/>
          <p:cNvSpPr/>
          <p:nvPr/>
        </p:nvSpPr>
        <p:spPr>
          <a:xfrm>
            <a:off x="2551688" y="2961323"/>
            <a:ext cx="680442" cy="680442"/>
          </a:xfrm>
          <a:prstGeom prst="roundRect">
            <a:avLst>
              <a:gd name="adj" fmla="val 134383"/>
            </a:avLst>
          </a:prstGeom>
          <a:solidFill>
            <a:srgbClr val="E6DED2">
              <a:alpha val="50000"/>
            </a:srgbClr>
          </a:solidFill>
          <a:ln/>
        </p:spPr>
      </p:sp>
      <p:pic>
        <p:nvPicPr>
          <p:cNvPr id="7" name="Image 0" descr="preencoded.png"/>
          <p:cNvPicPr>
            <a:picLocks noChangeAspect="1"/>
          </p:cNvPicPr>
          <p:nvPr/>
        </p:nvPicPr>
        <p:blipFill>
          <a:blip r:embed="rId3"/>
          <a:stretch>
            <a:fillRect/>
          </a:stretch>
        </p:blipFill>
        <p:spPr>
          <a:xfrm>
            <a:off x="2755761" y="3131463"/>
            <a:ext cx="272177" cy="340162"/>
          </a:xfrm>
          <a:prstGeom prst="rect">
            <a:avLst/>
          </a:prstGeom>
        </p:spPr>
      </p:pic>
      <p:sp>
        <p:nvSpPr>
          <p:cNvPr id="8" name="Text 5"/>
          <p:cNvSpPr/>
          <p:nvPr/>
        </p:nvSpPr>
        <p:spPr>
          <a:xfrm>
            <a:off x="1051084" y="386846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Sensitive to Outliers</a:t>
            </a:r>
            <a:endParaRPr lang="en-US" sz="2200" dirty="0"/>
          </a:p>
        </p:txBody>
      </p:sp>
      <p:sp>
        <p:nvSpPr>
          <p:cNvPr id="9" name="Text 6"/>
          <p:cNvSpPr/>
          <p:nvPr/>
        </p:nvSpPr>
        <p:spPr>
          <a:xfrm>
            <a:off x="1051084" y="4358878"/>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A single extreme prediction can drastically inflate MSE/RMSE, potentially </a:t>
            </a:r>
            <a:r>
              <a:rPr lang="en-US" sz="1750" dirty="0">
                <a:solidFill>
                  <a:srgbClr val="9C9283"/>
                </a:solidFill>
                <a:latin typeface="Noto Serif" pitchFamily="34" charset="0"/>
                <a:ea typeface="Noto Serif" pitchFamily="34" charset="-122"/>
                <a:cs typeface="Noto Serif" pitchFamily="34" charset="-120"/>
              </a:rPr>
              <a:t>misrepresenting overall model performance</a:t>
            </a:r>
            <a:r>
              <a:rPr lang="en-US" sz="1750" dirty="0">
                <a:solidFill>
                  <a:srgbClr val="4C4C4C"/>
                </a:solidFill>
                <a:latin typeface="Noto Serif" pitchFamily="34" charset="0"/>
                <a:ea typeface="Noto Serif" pitchFamily="34" charset="-122"/>
                <a:cs typeface="Noto Serif" pitchFamily="34" charset="-120"/>
              </a:rPr>
              <a:t>.</a:t>
            </a:r>
            <a:endParaRPr lang="en-US" sz="1750" dirty="0"/>
          </a:p>
        </p:txBody>
      </p:sp>
      <p:sp>
        <p:nvSpPr>
          <p:cNvPr id="10" name="Shape 7"/>
          <p:cNvSpPr/>
          <p:nvPr/>
        </p:nvSpPr>
        <p:spPr>
          <a:xfrm>
            <a:off x="5216962" y="3301484"/>
            <a:ext cx="4196358" cy="2766298"/>
          </a:xfrm>
          <a:prstGeom prst="roundRect">
            <a:avLst>
              <a:gd name="adj" fmla="val 5289"/>
            </a:avLst>
          </a:prstGeom>
          <a:solidFill>
            <a:srgbClr val="FDFBF7"/>
          </a:solidFill>
          <a:ln/>
          <a:effectLst>
            <a:outerShdw dist="20320" dir="2700000" algn="bl" rotWithShape="0">
              <a:srgbClr val="E6DED2">
                <a:alpha val="100000"/>
              </a:srgbClr>
            </a:outerShdw>
          </a:effectLst>
        </p:spPr>
      </p:sp>
      <p:sp>
        <p:nvSpPr>
          <p:cNvPr id="11" name="Shape 8"/>
          <p:cNvSpPr/>
          <p:nvPr/>
        </p:nvSpPr>
        <p:spPr>
          <a:xfrm>
            <a:off x="5216962" y="3271004"/>
            <a:ext cx="4196358" cy="121920"/>
          </a:xfrm>
          <a:prstGeom prst="roundRect">
            <a:avLst>
              <a:gd name="adj" fmla="val 78139"/>
            </a:avLst>
          </a:prstGeom>
          <a:solidFill>
            <a:srgbClr val="E6DED2"/>
          </a:solidFill>
          <a:ln/>
        </p:spPr>
      </p:sp>
      <p:sp>
        <p:nvSpPr>
          <p:cNvPr id="12" name="Shape 9"/>
          <p:cNvSpPr/>
          <p:nvPr/>
        </p:nvSpPr>
        <p:spPr>
          <a:xfrm>
            <a:off x="6974860" y="2961323"/>
            <a:ext cx="680442" cy="680442"/>
          </a:xfrm>
          <a:prstGeom prst="roundRect">
            <a:avLst>
              <a:gd name="adj" fmla="val 134383"/>
            </a:avLst>
          </a:prstGeom>
          <a:solidFill>
            <a:srgbClr val="E6DED2">
              <a:alpha val="50000"/>
            </a:srgbClr>
          </a:solidFill>
          <a:ln/>
        </p:spPr>
      </p:sp>
      <p:pic>
        <p:nvPicPr>
          <p:cNvPr id="13" name="Image 1" descr="preencoded.png"/>
          <p:cNvPicPr>
            <a:picLocks noChangeAspect="1"/>
          </p:cNvPicPr>
          <p:nvPr/>
        </p:nvPicPr>
        <p:blipFill>
          <a:blip r:embed="rId4"/>
          <a:stretch>
            <a:fillRect/>
          </a:stretch>
        </p:blipFill>
        <p:spPr>
          <a:xfrm>
            <a:off x="7178933" y="3131463"/>
            <a:ext cx="272177" cy="340162"/>
          </a:xfrm>
          <a:prstGeom prst="rect">
            <a:avLst/>
          </a:prstGeom>
        </p:spPr>
      </p:pic>
      <p:sp>
        <p:nvSpPr>
          <p:cNvPr id="14" name="Text 10"/>
          <p:cNvSpPr/>
          <p:nvPr/>
        </p:nvSpPr>
        <p:spPr>
          <a:xfrm>
            <a:off x="5474256" y="386846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MSE Unit Problem</a:t>
            </a:r>
            <a:endParaRPr lang="en-US" sz="2200" dirty="0"/>
          </a:p>
        </p:txBody>
      </p:sp>
      <p:sp>
        <p:nvSpPr>
          <p:cNvPr id="15" name="Text 11"/>
          <p:cNvSpPr/>
          <p:nvPr/>
        </p:nvSpPr>
        <p:spPr>
          <a:xfrm>
            <a:off x="5474256" y="4358878"/>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MSE is in "squared units" (e.g., "dollars squared"), making it </a:t>
            </a:r>
            <a:r>
              <a:rPr lang="en-US" sz="1750" dirty="0">
                <a:solidFill>
                  <a:srgbClr val="A8B8A2"/>
                </a:solidFill>
                <a:latin typeface="Noto Serif" pitchFamily="34" charset="0"/>
                <a:ea typeface="Noto Serif" pitchFamily="34" charset="-122"/>
                <a:cs typeface="Noto Serif" pitchFamily="34" charset="-120"/>
              </a:rPr>
              <a:t>less intuitive to interpret</a:t>
            </a:r>
            <a:r>
              <a:rPr lang="en-US" sz="1750" dirty="0">
                <a:solidFill>
                  <a:srgbClr val="4C4C4C"/>
                </a:solidFill>
                <a:latin typeface="Noto Serif" pitchFamily="34" charset="0"/>
                <a:ea typeface="Noto Serif" pitchFamily="34" charset="-122"/>
                <a:cs typeface="Noto Serif" pitchFamily="34" charset="-120"/>
              </a:rPr>
              <a:t> compared to the original data units.</a:t>
            </a:r>
            <a:endParaRPr lang="en-US" sz="1750" dirty="0"/>
          </a:p>
        </p:txBody>
      </p:sp>
      <p:sp>
        <p:nvSpPr>
          <p:cNvPr id="16" name="Shape 12"/>
          <p:cNvSpPr/>
          <p:nvPr/>
        </p:nvSpPr>
        <p:spPr>
          <a:xfrm>
            <a:off x="9640133" y="3301484"/>
            <a:ext cx="4196358" cy="2766298"/>
          </a:xfrm>
          <a:prstGeom prst="roundRect">
            <a:avLst>
              <a:gd name="adj" fmla="val 5289"/>
            </a:avLst>
          </a:prstGeom>
          <a:solidFill>
            <a:srgbClr val="FDFBF7"/>
          </a:solidFill>
          <a:ln/>
          <a:effectLst>
            <a:outerShdw dist="20320" dir="2700000" algn="bl" rotWithShape="0">
              <a:srgbClr val="E6DED2">
                <a:alpha val="100000"/>
              </a:srgbClr>
            </a:outerShdw>
          </a:effectLst>
        </p:spPr>
      </p:sp>
      <p:sp>
        <p:nvSpPr>
          <p:cNvPr id="17" name="Shape 13"/>
          <p:cNvSpPr/>
          <p:nvPr/>
        </p:nvSpPr>
        <p:spPr>
          <a:xfrm>
            <a:off x="9640133" y="3271004"/>
            <a:ext cx="4196358" cy="121920"/>
          </a:xfrm>
          <a:prstGeom prst="roundRect">
            <a:avLst>
              <a:gd name="adj" fmla="val 78139"/>
            </a:avLst>
          </a:prstGeom>
          <a:solidFill>
            <a:srgbClr val="E6DED2"/>
          </a:solidFill>
          <a:ln/>
        </p:spPr>
      </p:sp>
      <p:sp>
        <p:nvSpPr>
          <p:cNvPr id="18" name="Shape 14"/>
          <p:cNvSpPr/>
          <p:nvPr/>
        </p:nvSpPr>
        <p:spPr>
          <a:xfrm>
            <a:off x="11398032" y="2961323"/>
            <a:ext cx="680442" cy="680442"/>
          </a:xfrm>
          <a:prstGeom prst="roundRect">
            <a:avLst>
              <a:gd name="adj" fmla="val 134383"/>
            </a:avLst>
          </a:prstGeom>
          <a:solidFill>
            <a:srgbClr val="E6DED2">
              <a:alpha val="50000"/>
            </a:srgbClr>
          </a:solidFill>
          <a:ln/>
        </p:spPr>
      </p:sp>
      <p:pic>
        <p:nvPicPr>
          <p:cNvPr id="19" name="Image 2" descr="preencoded.png"/>
          <p:cNvPicPr>
            <a:picLocks noChangeAspect="1"/>
          </p:cNvPicPr>
          <p:nvPr/>
        </p:nvPicPr>
        <p:blipFill>
          <a:blip r:embed="rId5"/>
          <a:stretch>
            <a:fillRect/>
          </a:stretch>
        </p:blipFill>
        <p:spPr>
          <a:xfrm>
            <a:off x="11602105" y="3131463"/>
            <a:ext cx="272177" cy="340162"/>
          </a:xfrm>
          <a:prstGeom prst="rect">
            <a:avLst/>
          </a:prstGeom>
        </p:spPr>
      </p:pic>
      <p:sp>
        <p:nvSpPr>
          <p:cNvPr id="20" name="Text 15"/>
          <p:cNvSpPr/>
          <p:nvPr/>
        </p:nvSpPr>
        <p:spPr>
          <a:xfrm>
            <a:off x="9897427" y="386846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No Error Direction</a:t>
            </a:r>
            <a:endParaRPr lang="en-US" sz="2200" dirty="0"/>
          </a:p>
        </p:txBody>
      </p:sp>
      <p:sp>
        <p:nvSpPr>
          <p:cNvPr id="21" name="Text 16"/>
          <p:cNvSpPr/>
          <p:nvPr/>
        </p:nvSpPr>
        <p:spPr>
          <a:xfrm>
            <a:off x="9897427" y="4358878"/>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Neither metric indicates whether the model consistently </a:t>
            </a:r>
            <a:r>
              <a:rPr lang="en-US" sz="1750" dirty="0">
                <a:solidFill>
                  <a:srgbClr val="6F7F71"/>
                </a:solidFill>
                <a:latin typeface="Noto Serif" pitchFamily="34" charset="0"/>
                <a:ea typeface="Noto Serif" pitchFamily="34" charset="-122"/>
                <a:cs typeface="Noto Serif" pitchFamily="34" charset="-120"/>
              </a:rPr>
              <a:t>over-predicts or under-predicts</a:t>
            </a:r>
            <a:r>
              <a:rPr lang="en-US" sz="1750" dirty="0">
                <a:solidFill>
                  <a:srgbClr val="4C4C4C"/>
                </a:solidFill>
                <a:latin typeface="Noto Serif" pitchFamily="34" charset="0"/>
                <a:ea typeface="Noto Serif" pitchFamily="34" charset="-122"/>
                <a:cs typeface="Noto Serif" pitchFamily="34" charset="-120"/>
              </a:rPr>
              <a:t> the actual values.</a:t>
            </a:r>
            <a:endParaRPr lang="en-US" sz="1750" dirty="0"/>
          </a:p>
        </p:txBody>
      </p:sp>
      <p:sp>
        <p:nvSpPr>
          <p:cNvPr id="22" name="Text 17"/>
          <p:cNvSpPr/>
          <p:nvPr/>
        </p:nvSpPr>
        <p:spPr>
          <a:xfrm>
            <a:off x="793790" y="632293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Understanding these limitations is crucial for choosing the right evaluation metric and interpreting model results accurately.</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87956" y="619839"/>
            <a:ext cx="7851458" cy="527685"/>
          </a:xfrm>
          <a:prstGeom prst="rect">
            <a:avLst/>
          </a:prstGeom>
          <a:noFill/>
          <a:ln/>
        </p:spPr>
        <p:txBody>
          <a:bodyPr wrap="none" lIns="0" tIns="0" rIns="0" bIns="0" rtlCol="0" anchor="t"/>
          <a:lstStyle/>
          <a:p>
            <a:pPr marL="0" indent="0" algn="l">
              <a:lnSpc>
                <a:spcPts val="4150"/>
              </a:lnSpc>
              <a:buNone/>
            </a:pPr>
            <a:r>
              <a:rPr lang="en-US" sz="3300" dirty="0">
                <a:solidFill>
                  <a:srgbClr val="3A3A3A"/>
                </a:solidFill>
                <a:latin typeface="Noto Serif Medium" pitchFamily="34" charset="0"/>
                <a:ea typeface="Noto Serif Medium" pitchFamily="34" charset="-122"/>
                <a:cs typeface="Noto Serif Medium" pitchFamily="34" charset="-120"/>
              </a:rPr>
              <a:t>Real-World Impact: Food Delivery App</a:t>
            </a:r>
            <a:endParaRPr lang="en-US" sz="3300" dirty="0"/>
          </a:p>
        </p:txBody>
      </p:sp>
      <p:sp>
        <p:nvSpPr>
          <p:cNvPr id="3" name="Text 1"/>
          <p:cNvSpPr/>
          <p:nvPr/>
        </p:nvSpPr>
        <p:spPr>
          <a:xfrm>
            <a:off x="787956" y="1485186"/>
            <a:ext cx="13054489" cy="270034"/>
          </a:xfrm>
          <a:prstGeom prst="rect">
            <a:avLst/>
          </a:prstGeom>
          <a:noFill/>
          <a:ln/>
        </p:spPr>
        <p:txBody>
          <a:bodyPr wrap="none" lIns="0" tIns="0" rIns="0" bIns="0" rtlCol="0" anchor="t"/>
          <a:lstStyle/>
          <a:p>
            <a:pPr marL="0" indent="0" algn="l">
              <a:lnSpc>
                <a:spcPts val="2100"/>
              </a:lnSpc>
              <a:buNone/>
            </a:pPr>
            <a:r>
              <a:rPr lang="en-US" sz="1300" dirty="0">
                <a:solidFill>
                  <a:srgbClr val="4C4C4C"/>
                </a:solidFill>
                <a:latin typeface="Noto Serif" pitchFamily="34" charset="0"/>
                <a:ea typeface="Noto Serif" pitchFamily="34" charset="-122"/>
                <a:cs typeface="Noto Serif" pitchFamily="34" charset="-120"/>
              </a:rPr>
              <a:t>Consider a food delivery application where accurate delivery time prediction is crucial for customer satisfaction.</a:t>
            </a:r>
            <a:endParaRPr lang="en-US" sz="1300" dirty="0"/>
          </a:p>
        </p:txBody>
      </p:sp>
      <p:sp>
        <p:nvSpPr>
          <p:cNvPr id="4" name="Text 2"/>
          <p:cNvSpPr/>
          <p:nvPr/>
        </p:nvSpPr>
        <p:spPr>
          <a:xfrm>
            <a:off x="787956" y="2097048"/>
            <a:ext cx="7667863" cy="270034"/>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4C4C4C"/>
                </a:solidFill>
                <a:latin typeface="Noto Serif" pitchFamily="34" charset="0"/>
                <a:ea typeface="Noto Serif" pitchFamily="34" charset="-122"/>
                <a:cs typeface="Noto Serif" pitchFamily="34" charset="-120"/>
              </a:rPr>
              <a:t>Actual Delivery Time:</a:t>
            </a:r>
            <a:r>
              <a:rPr lang="en-US" sz="1300" dirty="0">
                <a:solidFill>
                  <a:srgbClr val="4C4C4C"/>
                </a:solidFill>
                <a:latin typeface="Noto Serif" pitchFamily="34" charset="0"/>
                <a:ea typeface="Noto Serif" pitchFamily="34" charset="-122"/>
                <a:cs typeface="Noto Serif" pitchFamily="34" charset="-120"/>
              </a:rPr>
              <a:t> 30 minutes</a:t>
            </a:r>
            <a:endParaRPr lang="en-US" sz="1300" dirty="0"/>
          </a:p>
        </p:txBody>
      </p:sp>
      <p:sp>
        <p:nvSpPr>
          <p:cNvPr id="5" name="Shape 3"/>
          <p:cNvSpPr/>
          <p:nvPr/>
        </p:nvSpPr>
        <p:spPr>
          <a:xfrm>
            <a:off x="787956" y="2556986"/>
            <a:ext cx="7667863" cy="2000964"/>
          </a:xfrm>
          <a:prstGeom prst="roundRect">
            <a:avLst>
              <a:gd name="adj" fmla="val 3545"/>
            </a:avLst>
          </a:prstGeom>
          <a:solidFill>
            <a:srgbClr val="F2EDE5"/>
          </a:solidFill>
          <a:ln w="7620">
            <a:solidFill>
              <a:srgbClr val="E6DED2"/>
            </a:solidFill>
            <a:prstDash val="solid"/>
          </a:ln>
          <a:effectLst>
            <a:outerShdw dist="15240" dir="2700000" algn="bl" rotWithShape="0">
              <a:srgbClr val="E6DED2">
                <a:alpha val="100000"/>
              </a:srgbClr>
            </a:outerShdw>
          </a:effectLst>
        </p:spPr>
      </p:sp>
      <p:sp>
        <p:nvSpPr>
          <p:cNvPr id="6" name="Shape 4"/>
          <p:cNvSpPr/>
          <p:nvPr/>
        </p:nvSpPr>
        <p:spPr>
          <a:xfrm>
            <a:off x="964406" y="2733437"/>
            <a:ext cx="506492" cy="506492"/>
          </a:xfrm>
          <a:prstGeom prst="roundRect">
            <a:avLst>
              <a:gd name="adj" fmla="val 18051787"/>
            </a:avLst>
          </a:prstGeom>
          <a:solidFill>
            <a:srgbClr val="E6DED2"/>
          </a:solidFill>
          <a:ln/>
        </p:spPr>
      </p:sp>
      <p:pic>
        <p:nvPicPr>
          <p:cNvPr id="7" name="Image 0" descr="preencoded.png"/>
          <p:cNvPicPr>
            <a:picLocks noChangeAspect="1"/>
          </p:cNvPicPr>
          <p:nvPr/>
        </p:nvPicPr>
        <p:blipFill>
          <a:blip r:embed="rId3"/>
          <a:stretch>
            <a:fillRect/>
          </a:stretch>
        </p:blipFill>
        <p:spPr>
          <a:xfrm>
            <a:off x="1103709" y="2844165"/>
            <a:ext cx="227886" cy="284917"/>
          </a:xfrm>
          <a:prstGeom prst="rect">
            <a:avLst/>
          </a:prstGeom>
        </p:spPr>
      </p:pic>
      <p:sp>
        <p:nvSpPr>
          <p:cNvPr id="8" name="Text 5"/>
          <p:cNvSpPr/>
          <p:nvPr/>
        </p:nvSpPr>
        <p:spPr>
          <a:xfrm>
            <a:off x="964406" y="3408759"/>
            <a:ext cx="2743200" cy="263843"/>
          </a:xfrm>
          <a:prstGeom prst="rect">
            <a:avLst/>
          </a:prstGeom>
          <a:noFill/>
          <a:ln/>
        </p:spPr>
        <p:txBody>
          <a:bodyPr wrap="none" lIns="0" tIns="0" rIns="0" bIns="0" rtlCol="0" anchor="t"/>
          <a:lstStyle/>
          <a:p>
            <a:pPr marL="0" indent="0" algn="l">
              <a:lnSpc>
                <a:spcPts val="2050"/>
              </a:lnSpc>
              <a:buNone/>
            </a:pPr>
            <a:r>
              <a:rPr lang="en-US" sz="1650" dirty="0">
                <a:solidFill>
                  <a:srgbClr val="4C4C4C"/>
                </a:solidFill>
                <a:latin typeface="Noto Serif Medium" pitchFamily="34" charset="0"/>
                <a:ea typeface="Noto Serif Medium" pitchFamily="34" charset="-122"/>
                <a:cs typeface="Noto Serif Medium" pitchFamily="34" charset="-120"/>
              </a:rPr>
              <a:t>Model Prediction 1: 32 min</a:t>
            </a:r>
            <a:endParaRPr lang="en-US" sz="1650" dirty="0"/>
          </a:p>
        </p:txBody>
      </p:sp>
      <p:sp>
        <p:nvSpPr>
          <p:cNvPr id="9" name="Text 6"/>
          <p:cNvSpPr/>
          <p:nvPr/>
        </p:nvSpPr>
        <p:spPr>
          <a:xfrm>
            <a:off x="964406" y="3841433"/>
            <a:ext cx="7314962" cy="540068"/>
          </a:xfrm>
          <a:prstGeom prst="rect">
            <a:avLst/>
          </a:prstGeom>
          <a:noFill/>
          <a:ln/>
        </p:spPr>
        <p:txBody>
          <a:bodyPr wrap="square" lIns="0" tIns="0" rIns="0" bIns="0" rtlCol="0" anchor="t"/>
          <a:lstStyle/>
          <a:p>
            <a:pPr marL="0" indent="0" algn="l">
              <a:lnSpc>
                <a:spcPts val="2100"/>
              </a:lnSpc>
              <a:buNone/>
            </a:pPr>
            <a:r>
              <a:rPr lang="en-US" sz="1300" b="1" dirty="0">
                <a:solidFill>
                  <a:srgbClr val="4C4C4C"/>
                </a:solidFill>
                <a:latin typeface="Noto Serif" pitchFamily="34" charset="0"/>
                <a:ea typeface="Noto Serif" pitchFamily="34" charset="-122"/>
                <a:cs typeface="Noto Serif" pitchFamily="34" charset="-120"/>
              </a:rPr>
              <a:t>Error:</a:t>
            </a:r>
            <a:r>
              <a:rPr lang="en-US" sz="1300" dirty="0">
                <a:solidFill>
                  <a:srgbClr val="4C4C4C"/>
                </a:solidFill>
                <a:latin typeface="Noto Serif" pitchFamily="34" charset="0"/>
                <a:ea typeface="Noto Serif" pitchFamily="34" charset="-122"/>
                <a:cs typeface="Noto Serif" pitchFamily="34" charset="-120"/>
              </a:rPr>
              <a:t> +2 min</a:t>
            </a:r>
            <a:r>
              <a:rPr lang="en-US" sz="1300" b="1" dirty="0">
                <a:solidFill>
                  <a:srgbClr val="4C4C4C"/>
                </a:solidFill>
                <a:latin typeface="Noto Serif" pitchFamily="34" charset="0"/>
                <a:ea typeface="Noto Serif" pitchFamily="34" charset="-122"/>
                <a:cs typeface="Noto Serif" pitchFamily="34" charset="-120"/>
              </a:rPr>
              <a:t>Error²:</a:t>
            </a:r>
            <a:r>
              <a:rPr lang="en-US" sz="1300" dirty="0">
                <a:solidFill>
                  <a:srgbClr val="4C4C4C"/>
                </a:solidFill>
                <a:latin typeface="Noto Serif" pitchFamily="34" charset="0"/>
                <a:ea typeface="Noto Serif" pitchFamily="34" charset="-122"/>
                <a:cs typeface="Noto Serif" pitchFamily="34" charset="-120"/>
              </a:rPr>
              <a:t> 4 (tolerable)</a:t>
            </a:r>
            <a:endParaRPr lang="en-US" sz="1300" dirty="0"/>
          </a:p>
        </p:txBody>
      </p:sp>
      <p:sp>
        <p:nvSpPr>
          <p:cNvPr id="10" name="Shape 7"/>
          <p:cNvSpPr/>
          <p:nvPr/>
        </p:nvSpPr>
        <p:spPr>
          <a:xfrm>
            <a:off x="787956" y="4726781"/>
            <a:ext cx="7667863" cy="2000964"/>
          </a:xfrm>
          <a:prstGeom prst="roundRect">
            <a:avLst>
              <a:gd name="adj" fmla="val 3545"/>
            </a:avLst>
          </a:prstGeom>
          <a:solidFill>
            <a:srgbClr val="F2EDE5"/>
          </a:solidFill>
          <a:ln w="7620">
            <a:solidFill>
              <a:srgbClr val="E6DED2"/>
            </a:solidFill>
            <a:prstDash val="solid"/>
          </a:ln>
          <a:effectLst>
            <a:outerShdw dist="15240" dir="2700000" algn="bl" rotWithShape="0">
              <a:srgbClr val="E6DED2">
                <a:alpha val="100000"/>
              </a:srgbClr>
            </a:outerShdw>
          </a:effectLst>
        </p:spPr>
      </p:sp>
      <p:sp>
        <p:nvSpPr>
          <p:cNvPr id="11" name="Shape 8"/>
          <p:cNvSpPr/>
          <p:nvPr/>
        </p:nvSpPr>
        <p:spPr>
          <a:xfrm>
            <a:off x="964406" y="4903232"/>
            <a:ext cx="506492" cy="506492"/>
          </a:xfrm>
          <a:prstGeom prst="roundRect">
            <a:avLst>
              <a:gd name="adj" fmla="val 18051787"/>
            </a:avLst>
          </a:prstGeom>
          <a:solidFill>
            <a:srgbClr val="E6DED2"/>
          </a:solidFill>
          <a:ln/>
        </p:spPr>
      </p:sp>
      <p:pic>
        <p:nvPicPr>
          <p:cNvPr id="12" name="Image 1" descr="preencoded.png"/>
          <p:cNvPicPr>
            <a:picLocks noChangeAspect="1"/>
          </p:cNvPicPr>
          <p:nvPr/>
        </p:nvPicPr>
        <p:blipFill>
          <a:blip r:embed="rId4"/>
          <a:stretch>
            <a:fillRect/>
          </a:stretch>
        </p:blipFill>
        <p:spPr>
          <a:xfrm>
            <a:off x="1103709" y="5013960"/>
            <a:ext cx="227886" cy="284917"/>
          </a:xfrm>
          <a:prstGeom prst="rect">
            <a:avLst/>
          </a:prstGeom>
        </p:spPr>
      </p:pic>
      <p:sp>
        <p:nvSpPr>
          <p:cNvPr id="13" name="Text 9"/>
          <p:cNvSpPr/>
          <p:nvPr/>
        </p:nvSpPr>
        <p:spPr>
          <a:xfrm>
            <a:off x="964406" y="5578554"/>
            <a:ext cx="2743200" cy="263843"/>
          </a:xfrm>
          <a:prstGeom prst="rect">
            <a:avLst/>
          </a:prstGeom>
          <a:noFill/>
          <a:ln/>
        </p:spPr>
        <p:txBody>
          <a:bodyPr wrap="none" lIns="0" tIns="0" rIns="0" bIns="0" rtlCol="0" anchor="t"/>
          <a:lstStyle/>
          <a:p>
            <a:pPr marL="0" indent="0" algn="l">
              <a:lnSpc>
                <a:spcPts val="2050"/>
              </a:lnSpc>
              <a:buNone/>
            </a:pPr>
            <a:r>
              <a:rPr lang="en-US" sz="1650" dirty="0">
                <a:solidFill>
                  <a:srgbClr val="4C4C4C"/>
                </a:solidFill>
                <a:latin typeface="Noto Serif Medium" pitchFamily="34" charset="0"/>
                <a:ea typeface="Noto Serif Medium" pitchFamily="34" charset="-122"/>
                <a:cs typeface="Noto Serif Medium" pitchFamily="34" charset="-120"/>
              </a:rPr>
              <a:t>Model Prediction 2: 60 min</a:t>
            </a:r>
            <a:endParaRPr lang="en-US" sz="1650" dirty="0"/>
          </a:p>
        </p:txBody>
      </p:sp>
      <p:sp>
        <p:nvSpPr>
          <p:cNvPr id="14" name="Text 10"/>
          <p:cNvSpPr/>
          <p:nvPr/>
        </p:nvSpPr>
        <p:spPr>
          <a:xfrm>
            <a:off x="964406" y="6011228"/>
            <a:ext cx="7314962" cy="540068"/>
          </a:xfrm>
          <a:prstGeom prst="rect">
            <a:avLst/>
          </a:prstGeom>
          <a:noFill/>
          <a:ln/>
        </p:spPr>
        <p:txBody>
          <a:bodyPr wrap="square" lIns="0" tIns="0" rIns="0" bIns="0" rtlCol="0" anchor="t"/>
          <a:lstStyle/>
          <a:p>
            <a:pPr marL="0" indent="0" algn="l">
              <a:lnSpc>
                <a:spcPts val="2100"/>
              </a:lnSpc>
              <a:buNone/>
            </a:pPr>
            <a:r>
              <a:rPr lang="en-US" sz="1300" b="1" dirty="0">
                <a:solidFill>
                  <a:srgbClr val="4C4C4C"/>
                </a:solidFill>
                <a:latin typeface="Noto Serif" pitchFamily="34" charset="0"/>
                <a:ea typeface="Noto Serif" pitchFamily="34" charset="-122"/>
                <a:cs typeface="Noto Serif" pitchFamily="34" charset="-120"/>
              </a:rPr>
              <a:t>Error:</a:t>
            </a:r>
            <a:r>
              <a:rPr lang="en-US" sz="1300" dirty="0">
                <a:solidFill>
                  <a:srgbClr val="4C4C4C"/>
                </a:solidFill>
                <a:latin typeface="Noto Serif" pitchFamily="34" charset="0"/>
                <a:ea typeface="Noto Serif" pitchFamily="34" charset="-122"/>
                <a:cs typeface="Noto Serif" pitchFamily="34" charset="-120"/>
              </a:rPr>
              <a:t> +30 min</a:t>
            </a:r>
            <a:r>
              <a:rPr lang="en-US" sz="1300" b="1" dirty="0">
                <a:solidFill>
                  <a:srgbClr val="4C4C4C"/>
                </a:solidFill>
                <a:latin typeface="Noto Serif" pitchFamily="34" charset="0"/>
                <a:ea typeface="Noto Serif" pitchFamily="34" charset="-122"/>
                <a:cs typeface="Noto Serif" pitchFamily="34" charset="-120"/>
              </a:rPr>
              <a:t>Error²:</a:t>
            </a:r>
            <a:r>
              <a:rPr lang="en-US" sz="1300" dirty="0">
                <a:solidFill>
                  <a:srgbClr val="4C4C4C"/>
                </a:solidFill>
                <a:latin typeface="Noto Serif" pitchFamily="34" charset="0"/>
                <a:ea typeface="Noto Serif" pitchFamily="34" charset="-122"/>
                <a:cs typeface="Noto Serif" pitchFamily="34" charset="-120"/>
              </a:rPr>
              <a:t> 900 (</a:t>
            </a:r>
            <a:r>
              <a:rPr lang="en-US" sz="1300" dirty="0">
                <a:solidFill>
                  <a:srgbClr val="9C9283"/>
                </a:solidFill>
                <a:latin typeface="Noto Serif" pitchFamily="34" charset="0"/>
                <a:ea typeface="Noto Serif" pitchFamily="34" charset="-122"/>
                <a:cs typeface="Noto Serif" pitchFamily="34" charset="-120"/>
              </a:rPr>
              <a:t>highly penalized</a:t>
            </a:r>
            <a:r>
              <a:rPr lang="en-US" sz="1300" dirty="0">
                <a:solidFill>
                  <a:srgbClr val="4C4C4C"/>
                </a:solidFill>
                <a:latin typeface="Noto Serif" pitchFamily="34" charset="0"/>
                <a:ea typeface="Noto Serif" pitchFamily="34" charset="-122"/>
                <a:cs typeface="Noto Serif" pitchFamily="34" charset="-120"/>
              </a:rPr>
              <a:t>)</a:t>
            </a:r>
            <a:endParaRPr lang="en-US" sz="1300" dirty="0"/>
          </a:p>
        </p:txBody>
      </p:sp>
      <p:sp>
        <p:nvSpPr>
          <p:cNvPr id="15" name="Text 11"/>
          <p:cNvSpPr/>
          <p:nvPr/>
        </p:nvSpPr>
        <p:spPr>
          <a:xfrm>
            <a:off x="787956" y="6917650"/>
            <a:ext cx="7667863" cy="540068"/>
          </a:xfrm>
          <a:prstGeom prst="rect">
            <a:avLst/>
          </a:prstGeom>
          <a:noFill/>
          <a:ln/>
        </p:spPr>
        <p:txBody>
          <a:bodyPr wrap="square" lIns="0" tIns="0" rIns="0" bIns="0" rtlCol="0" anchor="t"/>
          <a:lstStyle/>
          <a:p>
            <a:pPr marL="0" indent="0" algn="l">
              <a:lnSpc>
                <a:spcPts val="2100"/>
              </a:lnSpc>
              <a:buNone/>
            </a:pPr>
            <a:r>
              <a:rPr lang="en-US" sz="1300" dirty="0">
                <a:solidFill>
                  <a:srgbClr val="4C4C4C"/>
                </a:solidFill>
                <a:latin typeface="Noto Serif" pitchFamily="34" charset="0"/>
                <a:ea typeface="Noto Serif" pitchFamily="34" charset="-122"/>
                <a:cs typeface="Noto Serif" pitchFamily="34" charset="-120"/>
              </a:rPr>
              <a:t>RMSE ensures that models are trained to </a:t>
            </a:r>
            <a:r>
              <a:rPr lang="en-US" sz="1300" dirty="0">
                <a:solidFill>
                  <a:srgbClr val="6F7F71"/>
                </a:solidFill>
                <a:latin typeface="Noto Serif" pitchFamily="34" charset="0"/>
                <a:ea typeface="Noto Serif" pitchFamily="34" charset="-122"/>
                <a:cs typeface="Noto Serif" pitchFamily="34" charset="-120"/>
              </a:rPr>
              <a:t>avoid the 30-minute overestimation much more than the 2-minute deviation</a:t>
            </a:r>
            <a:r>
              <a:rPr lang="en-US" sz="1300" dirty="0">
                <a:solidFill>
                  <a:srgbClr val="4C4C4C"/>
                </a:solidFill>
                <a:latin typeface="Noto Serif" pitchFamily="34" charset="0"/>
                <a:ea typeface="Noto Serif" pitchFamily="34" charset="-122"/>
                <a:cs typeface="Noto Serif" pitchFamily="34" charset="-120"/>
              </a:rPr>
              <a:t>.</a:t>
            </a:r>
            <a:endParaRPr lang="en-US" sz="1300" dirty="0"/>
          </a:p>
        </p:txBody>
      </p:sp>
      <p:pic>
        <p:nvPicPr>
          <p:cNvPr id="16" name="Image 2" descr="preencoded.png"/>
          <p:cNvPicPr>
            <a:picLocks noChangeAspect="1"/>
          </p:cNvPicPr>
          <p:nvPr/>
        </p:nvPicPr>
        <p:blipFill>
          <a:blip r:embed="rId5"/>
          <a:stretch>
            <a:fillRect/>
          </a:stretch>
        </p:blipFill>
        <p:spPr>
          <a:xfrm>
            <a:off x="8875395" y="2135029"/>
            <a:ext cx="3730823" cy="3730823"/>
          </a:xfrm>
          <a:prstGeom prst="rect">
            <a:avLst/>
          </a:prstGeom>
        </p:spPr>
      </p:pic>
      <p:sp>
        <p:nvSpPr>
          <p:cNvPr id="17" name="Text 12"/>
          <p:cNvSpPr/>
          <p:nvPr/>
        </p:nvSpPr>
        <p:spPr>
          <a:xfrm>
            <a:off x="8875395" y="6055757"/>
            <a:ext cx="4974550" cy="810101"/>
          </a:xfrm>
          <a:prstGeom prst="rect">
            <a:avLst/>
          </a:prstGeom>
          <a:noFill/>
          <a:ln/>
        </p:spPr>
        <p:txBody>
          <a:bodyPr wrap="square" lIns="0" tIns="0" rIns="0" bIns="0" rtlCol="0" anchor="t"/>
          <a:lstStyle/>
          <a:p>
            <a:pPr marL="0" indent="0" algn="l">
              <a:lnSpc>
                <a:spcPts val="2100"/>
              </a:lnSpc>
              <a:buNone/>
            </a:pPr>
            <a:r>
              <a:rPr lang="en-US" sz="1300" dirty="0">
                <a:solidFill>
                  <a:srgbClr val="4C4C4C"/>
                </a:solidFill>
                <a:latin typeface="Noto Serif" pitchFamily="34" charset="0"/>
                <a:ea typeface="Noto Serif" pitchFamily="34" charset="-122"/>
                <a:cs typeface="Noto Serif" pitchFamily="34" charset="-120"/>
              </a:rPr>
              <a:t>A 2-minute error might be acceptable, but a 30-minute overestimation leads to customer frustration and potential order cancellations.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881</Words>
  <Application>Microsoft Office PowerPoint</Application>
  <PresentationFormat>Custom</PresentationFormat>
  <Paragraphs>139</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hp</cp:lastModifiedBy>
  <cp:revision>2</cp:revision>
  <dcterms:created xsi:type="dcterms:W3CDTF">2025-09-14T04:34:48Z</dcterms:created>
  <dcterms:modified xsi:type="dcterms:W3CDTF">2025-09-14T04:37:00Z</dcterms:modified>
</cp:coreProperties>
</file>