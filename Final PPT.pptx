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Unbounded"/>
      <p:regular r:id="rId18"/>
    </p:embeddedFont>
    <p:embeddedFont>
      <p:font typeface="Unbounded"/>
      <p:regular r:id="rId19"/>
    </p:embeddedFont>
    <p:embeddedFont>
      <p:font typeface="Open Sans"/>
      <p:regular r:id="rId20"/>
    </p:embeddedFont>
    <p:embeddedFont>
      <p:font typeface="Open Sans"/>
      <p:regular r:id="rId21"/>
    </p:embeddedFont>
    <p:embeddedFont>
      <p:font typeface="Open Sans"/>
      <p:regular r:id="rId22"/>
    </p:embeddedFont>
    <p:embeddedFont>
      <p:font typeface="Open Sans"/>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3167360" y="0"/>
            <a:ext cx="1463040" cy="8229600"/>
          </a:xfrm>
          <a:prstGeom prst="rect">
            <a:avLst/>
          </a:prstGeom>
        </p:spPr>
      </p:pic>
      <p:sp>
        <p:nvSpPr>
          <p:cNvPr id="3" name="Text 0"/>
          <p:cNvSpPr/>
          <p:nvPr/>
        </p:nvSpPr>
        <p:spPr>
          <a:xfrm>
            <a:off x="793790" y="2872978"/>
            <a:ext cx="11579781" cy="1417558"/>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Why MSE/RMSE Penalize Large Errors More Heavily</a:t>
            </a:r>
            <a:endParaRPr lang="en-US" sz="4450" dirty="0"/>
          </a:p>
        </p:txBody>
      </p:sp>
      <p:sp>
        <p:nvSpPr>
          <p:cNvPr id="4" name="Text 1"/>
          <p:cNvSpPr/>
          <p:nvPr/>
        </p:nvSpPr>
        <p:spPr>
          <a:xfrm>
            <a:off x="793790" y="4630698"/>
            <a:ext cx="1157978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Understanding</a:t>
            </a:r>
            <a:pPr algn="l" indent="0" marL="0">
              <a:lnSpc>
                <a:spcPts val="2850"/>
              </a:lnSpc>
              <a:buNone/>
            </a:pPr>
            <a:r>
              <a:rPr lang="en-US" sz="1750" i="1" dirty="0">
                <a:solidFill>
                  <a:srgbClr val="333F70"/>
                </a:solidFill>
                <a:latin typeface="Open Sans" pitchFamily="34" charset="0"/>
                <a:ea typeface="Open Sans" pitchFamily="34" charset="-122"/>
                <a:cs typeface="Open Sans" pitchFamily="34" charset="-120"/>
              </a:rPr>
              <a:t> </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how mathematical choices shape machine learning model evaluation and drive better predictive accuracy.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84384" y="618173"/>
            <a:ext cx="13061633" cy="1932861"/>
          </a:xfrm>
          <a:prstGeom prst="rect">
            <a:avLst/>
          </a:prstGeom>
          <a:noFill/>
          <a:ln/>
        </p:spPr>
        <p:txBody>
          <a:bodyPr wrap="square" lIns="0" tIns="0" rIns="0" bIns="0" rtlCol="0" anchor="t"/>
          <a:lstStyle/>
          <a:p>
            <a:pPr algn="ctr" indent="0" marL="0">
              <a:lnSpc>
                <a:spcPts val="7600"/>
              </a:lnSpc>
              <a:buNone/>
            </a:pPr>
            <a:r>
              <a:rPr lang="en-US" sz="6050" b="1" dirty="0">
                <a:solidFill>
                  <a:srgbClr val="333F70"/>
                </a:solidFill>
                <a:latin typeface="Unbounded Bold" pitchFamily="34" charset="0"/>
                <a:ea typeface="Unbounded Bold" pitchFamily="34" charset="-122"/>
                <a:cs typeface="Unbounded Bold" pitchFamily="34" charset="-120"/>
              </a:rPr>
              <a:t>Why Do MSE/RMSE Amplify Large Errors?</a:t>
            </a:r>
            <a:endParaRPr lang="en-US" sz="6050" dirty="0"/>
          </a:p>
        </p:txBody>
      </p:sp>
      <p:sp>
        <p:nvSpPr>
          <p:cNvPr id="3" name="Text 1"/>
          <p:cNvSpPr/>
          <p:nvPr/>
        </p:nvSpPr>
        <p:spPr>
          <a:xfrm>
            <a:off x="784384" y="2999184"/>
            <a:ext cx="13061633" cy="716994"/>
          </a:xfrm>
          <a:prstGeom prst="rect">
            <a:avLst/>
          </a:prstGeom>
          <a:noFill/>
          <a:ln/>
        </p:spPr>
        <p:txBody>
          <a:bodyPr wrap="square" lIns="0" tIns="0" rIns="0" bIns="0" rtlCol="0" anchor="t"/>
          <a:lstStyle/>
          <a:p>
            <a:pPr algn="ctr" indent="0" marL="0">
              <a:lnSpc>
                <a:spcPts val="2800"/>
              </a:lnSpc>
              <a:buNone/>
            </a:pPr>
            <a:r>
              <a:rPr lang="en-US" sz="1750" dirty="0">
                <a:solidFill>
                  <a:srgbClr val="333F70"/>
                </a:solidFill>
                <a:latin typeface="Open Sans" pitchFamily="34" charset="0"/>
                <a:ea typeface="Open Sans" pitchFamily="34" charset="-122"/>
                <a:cs typeface="Open Sans" pitchFamily="34" charset="-120"/>
              </a:rPr>
              <a:t>This presentation explores the critical role of Mean Squared Error (MSE) and Root Mean Squared Error (RMSE) in regression analysis, focusing on their mathematical design that inherently penalizes larger prediction inaccuracies.</a:t>
            </a:r>
            <a:endParaRPr lang="en-US" sz="1750" dirty="0"/>
          </a:p>
        </p:txBody>
      </p:sp>
      <p:sp>
        <p:nvSpPr>
          <p:cNvPr id="4" name="Text 2"/>
          <p:cNvSpPr/>
          <p:nvPr/>
        </p:nvSpPr>
        <p:spPr>
          <a:xfrm>
            <a:off x="784384" y="3968234"/>
            <a:ext cx="224076" cy="280154"/>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Unbounded Light" pitchFamily="34" charset="0"/>
                <a:ea typeface="Unbounded Light" pitchFamily="34" charset="-122"/>
                <a:cs typeface="Unbounded Light" pitchFamily="34" charset="-120"/>
              </a:rPr>
              <a:t>01</a:t>
            </a:r>
            <a:endParaRPr lang="en-US" sz="1750" dirty="0"/>
          </a:p>
        </p:txBody>
      </p:sp>
      <p:sp>
        <p:nvSpPr>
          <p:cNvPr id="5" name="Shape 3"/>
          <p:cNvSpPr/>
          <p:nvPr/>
        </p:nvSpPr>
        <p:spPr>
          <a:xfrm>
            <a:off x="784384" y="4318635"/>
            <a:ext cx="6418778" cy="30480"/>
          </a:xfrm>
          <a:prstGeom prst="rect">
            <a:avLst/>
          </a:prstGeom>
          <a:solidFill>
            <a:srgbClr val="26A688"/>
          </a:solidFill>
          <a:ln/>
        </p:spPr>
      </p:sp>
      <p:sp>
        <p:nvSpPr>
          <p:cNvPr id="6" name="Text 4"/>
          <p:cNvSpPr/>
          <p:nvPr/>
        </p:nvSpPr>
        <p:spPr>
          <a:xfrm>
            <a:off x="784384" y="4491633"/>
            <a:ext cx="4159448" cy="350163"/>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What are MSE &amp; RMSE?</a:t>
            </a:r>
            <a:endParaRPr lang="en-US" sz="2200" dirty="0"/>
          </a:p>
        </p:txBody>
      </p:sp>
      <p:sp>
        <p:nvSpPr>
          <p:cNvPr id="7" name="Text 5"/>
          <p:cNvSpPr/>
          <p:nvPr/>
        </p:nvSpPr>
        <p:spPr>
          <a:xfrm>
            <a:off x="784384" y="4976217"/>
            <a:ext cx="6418778" cy="358497"/>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Open Sans" pitchFamily="34" charset="0"/>
                <a:ea typeface="Open Sans" pitchFamily="34" charset="-122"/>
                <a:cs typeface="Open Sans" pitchFamily="34" charset="-120"/>
              </a:rPr>
              <a:t>Mathematical foundations and formulas</a:t>
            </a:r>
            <a:endParaRPr lang="en-US" sz="1750" dirty="0"/>
          </a:p>
        </p:txBody>
      </p:sp>
      <p:sp>
        <p:nvSpPr>
          <p:cNvPr id="8" name="Text 6"/>
          <p:cNvSpPr/>
          <p:nvPr/>
        </p:nvSpPr>
        <p:spPr>
          <a:xfrm>
            <a:off x="7427238" y="3968234"/>
            <a:ext cx="224076" cy="280154"/>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Unbounded Light" pitchFamily="34" charset="0"/>
                <a:ea typeface="Unbounded Light" pitchFamily="34" charset="-122"/>
                <a:cs typeface="Unbounded Light" pitchFamily="34" charset="-120"/>
              </a:rPr>
              <a:t>02</a:t>
            </a:r>
            <a:endParaRPr lang="en-US" sz="1750" dirty="0"/>
          </a:p>
        </p:txBody>
      </p:sp>
      <p:sp>
        <p:nvSpPr>
          <p:cNvPr id="9" name="Shape 7"/>
          <p:cNvSpPr/>
          <p:nvPr/>
        </p:nvSpPr>
        <p:spPr>
          <a:xfrm>
            <a:off x="7427238" y="4318635"/>
            <a:ext cx="6418778" cy="30480"/>
          </a:xfrm>
          <a:prstGeom prst="rect">
            <a:avLst/>
          </a:prstGeom>
          <a:solidFill>
            <a:srgbClr val="26A688"/>
          </a:solidFill>
          <a:ln/>
        </p:spPr>
      </p:sp>
      <p:sp>
        <p:nvSpPr>
          <p:cNvPr id="10" name="Text 8"/>
          <p:cNvSpPr/>
          <p:nvPr/>
        </p:nvSpPr>
        <p:spPr>
          <a:xfrm>
            <a:off x="7427238" y="4491633"/>
            <a:ext cx="3804047" cy="350163"/>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Where are they used?</a:t>
            </a:r>
            <a:endParaRPr lang="en-US" sz="2200" dirty="0"/>
          </a:p>
        </p:txBody>
      </p:sp>
      <p:sp>
        <p:nvSpPr>
          <p:cNvPr id="11" name="Text 9"/>
          <p:cNvSpPr/>
          <p:nvPr/>
        </p:nvSpPr>
        <p:spPr>
          <a:xfrm>
            <a:off x="7427238" y="4976217"/>
            <a:ext cx="6418778" cy="358497"/>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Open Sans" pitchFamily="34" charset="0"/>
                <a:ea typeface="Open Sans" pitchFamily="34" charset="-122"/>
                <a:cs typeface="Open Sans" pitchFamily="34" charset="-120"/>
              </a:rPr>
              <a:t>Application scope and contexts</a:t>
            </a:r>
            <a:endParaRPr lang="en-US" sz="1750" dirty="0"/>
          </a:p>
        </p:txBody>
      </p:sp>
      <p:sp>
        <p:nvSpPr>
          <p:cNvPr id="12" name="Text 10"/>
          <p:cNvSpPr/>
          <p:nvPr/>
        </p:nvSpPr>
        <p:spPr>
          <a:xfrm>
            <a:off x="784384" y="5726787"/>
            <a:ext cx="224076" cy="280154"/>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Unbounded Light" pitchFamily="34" charset="0"/>
                <a:ea typeface="Unbounded Light" pitchFamily="34" charset="-122"/>
                <a:cs typeface="Unbounded Light" pitchFamily="34" charset="-120"/>
              </a:rPr>
              <a:t>03</a:t>
            </a:r>
            <a:endParaRPr lang="en-US" sz="1750" dirty="0"/>
          </a:p>
        </p:txBody>
      </p:sp>
      <p:sp>
        <p:nvSpPr>
          <p:cNvPr id="13" name="Shape 11"/>
          <p:cNvSpPr/>
          <p:nvPr/>
        </p:nvSpPr>
        <p:spPr>
          <a:xfrm>
            <a:off x="784384" y="6077188"/>
            <a:ext cx="6418778" cy="30480"/>
          </a:xfrm>
          <a:prstGeom prst="rect">
            <a:avLst/>
          </a:prstGeom>
          <a:solidFill>
            <a:srgbClr val="26A688"/>
          </a:solidFill>
          <a:ln/>
        </p:spPr>
      </p:sp>
      <p:sp>
        <p:nvSpPr>
          <p:cNvPr id="14" name="Text 12"/>
          <p:cNvSpPr/>
          <p:nvPr/>
        </p:nvSpPr>
        <p:spPr>
          <a:xfrm>
            <a:off x="784384" y="6250186"/>
            <a:ext cx="6034207" cy="350163"/>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Why do they penalize large errors?</a:t>
            </a:r>
            <a:endParaRPr lang="en-US" sz="2200" dirty="0"/>
          </a:p>
        </p:txBody>
      </p:sp>
      <p:sp>
        <p:nvSpPr>
          <p:cNvPr id="15" name="Text 13"/>
          <p:cNvSpPr/>
          <p:nvPr/>
        </p:nvSpPr>
        <p:spPr>
          <a:xfrm>
            <a:off x="784384" y="6734770"/>
            <a:ext cx="6418778" cy="358497"/>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Open Sans" pitchFamily="34" charset="0"/>
                <a:ea typeface="Open Sans" pitchFamily="34" charset="-122"/>
                <a:cs typeface="Open Sans" pitchFamily="34" charset="-120"/>
              </a:rPr>
              <a:t>The mathematics behind error amplification</a:t>
            </a:r>
            <a:endParaRPr lang="en-US" sz="1750" dirty="0"/>
          </a:p>
        </p:txBody>
      </p:sp>
      <p:sp>
        <p:nvSpPr>
          <p:cNvPr id="16" name="Text 14"/>
          <p:cNvSpPr/>
          <p:nvPr/>
        </p:nvSpPr>
        <p:spPr>
          <a:xfrm>
            <a:off x="7427238" y="5726787"/>
            <a:ext cx="224076" cy="280154"/>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Unbounded Light" pitchFamily="34" charset="0"/>
                <a:ea typeface="Unbounded Light" pitchFamily="34" charset="-122"/>
                <a:cs typeface="Unbounded Light" pitchFamily="34" charset="-120"/>
              </a:rPr>
              <a:t>04</a:t>
            </a:r>
            <a:endParaRPr lang="en-US" sz="1750" dirty="0"/>
          </a:p>
        </p:txBody>
      </p:sp>
      <p:sp>
        <p:nvSpPr>
          <p:cNvPr id="17" name="Shape 15"/>
          <p:cNvSpPr/>
          <p:nvPr/>
        </p:nvSpPr>
        <p:spPr>
          <a:xfrm>
            <a:off x="7427238" y="6077188"/>
            <a:ext cx="6418778" cy="30480"/>
          </a:xfrm>
          <a:prstGeom prst="rect">
            <a:avLst/>
          </a:prstGeom>
          <a:solidFill>
            <a:srgbClr val="26A688"/>
          </a:solidFill>
          <a:ln/>
        </p:spPr>
      </p:sp>
      <p:sp>
        <p:nvSpPr>
          <p:cNvPr id="18" name="Text 16"/>
          <p:cNvSpPr/>
          <p:nvPr/>
        </p:nvSpPr>
        <p:spPr>
          <a:xfrm>
            <a:off x="7427238" y="6250186"/>
            <a:ext cx="6418778" cy="700326"/>
          </a:xfrm>
          <a:prstGeom prst="rect">
            <a:avLst/>
          </a:prstGeom>
          <a:noFill/>
          <a:ln/>
        </p:spPr>
        <p:txBody>
          <a:bodyPr wrap="squar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Examples, Limitations &amp; Applications</a:t>
            </a:r>
            <a:endParaRPr lang="en-US" sz="2200" dirty="0"/>
          </a:p>
        </p:txBody>
      </p:sp>
      <p:sp>
        <p:nvSpPr>
          <p:cNvPr id="19" name="Text 17"/>
          <p:cNvSpPr/>
          <p:nvPr/>
        </p:nvSpPr>
        <p:spPr>
          <a:xfrm>
            <a:off x="7427238" y="7084933"/>
            <a:ext cx="6418778" cy="358497"/>
          </a:xfrm>
          <a:prstGeom prst="rect">
            <a:avLst/>
          </a:prstGeom>
          <a:noFill/>
          <a:ln/>
        </p:spPr>
        <p:txBody>
          <a:bodyPr wrap="none" lIns="0" tIns="0" rIns="0" bIns="0" rtlCol="0" anchor="t"/>
          <a:lstStyle/>
          <a:p>
            <a:pPr algn="l" indent="0" marL="0">
              <a:lnSpc>
                <a:spcPts val="2800"/>
              </a:lnSpc>
              <a:buNone/>
            </a:pPr>
            <a:r>
              <a:rPr lang="en-US" sz="1750" dirty="0">
                <a:solidFill>
                  <a:srgbClr val="333F70"/>
                </a:solidFill>
                <a:latin typeface="Open Sans" pitchFamily="34" charset="0"/>
                <a:ea typeface="Open Sans" pitchFamily="34" charset="-122"/>
                <a:cs typeface="Open Sans" pitchFamily="34" charset="-120"/>
              </a:rPr>
              <a:t>Real-world impact and demonstrations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83563"/>
            <a:ext cx="8526780"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Defining MSE and RMSE</a:t>
            </a:r>
            <a:endParaRPr lang="en-US" sz="4450" dirty="0"/>
          </a:p>
        </p:txBody>
      </p:sp>
      <p:sp>
        <p:nvSpPr>
          <p:cNvPr id="3" name="Text 1"/>
          <p:cNvSpPr/>
          <p:nvPr/>
        </p:nvSpPr>
        <p:spPr>
          <a:xfrm>
            <a:off x="793790" y="2159318"/>
            <a:ext cx="5619155" cy="425291"/>
          </a:xfrm>
          <a:prstGeom prst="rect">
            <a:avLst/>
          </a:prstGeom>
          <a:noFill/>
          <a:ln/>
        </p:spPr>
        <p:txBody>
          <a:bodyPr wrap="none" lIns="0" tIns="0" rIns="0" bIns="0" rtlCol="0" anchor="t"/>
          <a:lstStyle/>
          <a:p>
            <a:pPr algn="l"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Mean Squared Error (MSE)</a:t>
            </a:r>
            <a:endParaRPr lang="en-US" sz="2650" dirty="0"/>
          </a:p>
        </p:txBody>
      </p:sp>
      <p:pic>
        <p:nvPicPr>
          <p:cNvPr id="4" name="Image 0" descr="preencoded.png">    </p:cNvPr>
          <p:cNvPicPr>
            <a:picLocks noChangeAspect="1"/>
          </p:cNvPicPr>
          <p:nvPr/>
        </p:nvPicPr>
        <p:blipFill>
          <a:blip r:embed="rId1"/>
          <a:stretch>
            <a:fillRect/>
          </a:stretch>
        </p:blipFill>
        <p:spPr>
          <a:xfrm>
            <a:off x="793790" y="2839760"/>
            <a:ext cx="6244709" cy="616744"/>
          </a:xfrm>
          <a:prstGeom prst="rect">
            <a:avLst/>
          </a:prstGeom>
        </p:spPr>
      </p:pic>
      <p:sp>
        <p:nvSpPr>
          <p:cNvPr id="5" name="Text 2"/>
          <p:cNvSpPr/>
          <p:nvPr/>
        </p:nvSpPr>
        <p:spPr>
          <a:xfrm>
            <a:off x="793790" y="3711654"/>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Average of squared differences between predicted and actual values</a:t>
            </a:r>
            <a:endParaRPr lang="en-US" sz="1750" dirty="0"/>
          </a:p>
        </p:txBody>
      </p:sp>
      <p:sp>
        <p:nvSpPr>
          <p:cNvPr id="6" name="Text 3"/>
          <p:cNvSpPr/>
          <p:nvPr/>
        </p:nvSpPr>
        <p:spPr>
          <a:xfrm>
            <a:off x="793790" y="451675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Squaring ensures all values are positive and emphasizes larger errors</a:t>
            </a:r>
            <a:endParaRPr lang="en-US" sz="1750" dirty="0"/>
          </a:p>
        </p:txBody>
      </p:sp>
      <p:sp>
        <p:nvSpPr>
          <p:cNvPr id="7" name="Text 4"/>
          <p:cNvSpPr/>
          <p:nvPr/>
        </p:nvSpPr>
        <p:spPr>
          <a:xfrm>
            <a:off x="793790" y="5321856"/>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Unit is the square of the target variable's unit</a:t>
            </a:r>
            <a:endParaRPr lang="en-US" sz="1750" dirty="0"/>
          </a:p>
        </p:txBody>
      </p:sp>
      <p:sp>
        <p:nvSpPr>
          <p:cNvPr id="8" name="Text 5"/>
          <p:cNvSpPr/>
          <p:nvPr/>
        </p:nvSpPr>
        <p:spPr>
          <a:xfrm>
            <a:off x="7599521" y="2159318"/>
            <a:ext cx="6244709" cy="850583"/>
          </a:xfrm>
          <a:prstGeom prst="rect">
            <a:avLst/>
          </a:prstGeom>
          <a:noFill/>
          <a:ln/>
        </p:spPr>
        <p:txBody>
          <a:bodyPr wrap="square" lIns="0" tIns="0" rIns="0" bIns="0" rtlCol="0" anchor="t"/>
          <a:lstStyle/>
          <a:p>
            <a:pPr algn="l"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Root Mean Squared Error (RMSE)</a:t>
            </a:r>
            <a:endParaRPr lang="en-US" sz="2650" dirty="0"/>
          </a:p>
        </p:txBody>
      </p:sp>
      <p:pic>
        <p:nvPicPr>
          <p:cNvPr id="9" name="Image 1" descr="preencoded.png">    </p:cNvPr>
          <p:cNvPicPr>
            <a:picLocks noChangeAspect="1"/>
          </p:cNvPicPr>
          <p:nvPr/>
        </p:nvPicPr>
        <p:blipFill>
          <a:blip r:embed="rId2"/>
          <a:stretch>
            <a:fillRect/>
          </a:stretch>
        </p:blipFill>
        <p:spPr>
          <a:xfrm>
            <a:off x="7599521" y="3265051"/>
            <a:ext cx="6244709" cy="411123"/>
          </a:xfrm>
          <a:prstGeom prst="rect">
            <a:avLst/>
          </a:prstGeom>
        </p:spPr>
      </p:pic>
      <p:sp>
        <p:nvSpPr>
          <p:cNvPr id="10" name="Text 6"/>
          <p:cNvSpPr/>
          <p:nvPr/>
        </p:nvSpPr>
        <p:spPr>
          <a:xfrm>
            <a:off x="7599521" y="3931325"/>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Square root of the MSE</a:t>
            </a:r>
            <a:endParaRPr lang="en-US" sz="1750" dirty="0"/>
          </a:p>
        </p:txBody>
      </p:sp>
      <p:sp>
        <p:nvSpPr>
          <p:cNvPr id="11" name="Text 7"/>
          <p:cNvSpPr/>
          <p:nvPr/>
        </p:nvSpPr>
        <p:spPr>
          <a:xfrm>
            <a:off x="7599521" y="4373523"/>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Returns the error to original units of target variable</a:t>
            </a:r>
            <a:endParaRPr lang="en-US" sz="1750" dirty="0"/>
          </a:p>
        </p:txBody>
      </p:sp>
      <p:sp>
        <p:nvSpPr>
          <p:cNvPr id="12" name="Text 8"/>
          <p:cNvSpPr/>
          <p:nvPr/>
        </p:nvSpPr>
        <p:spPr>
          <a:xfrm>
            <a:off x="7599521" y="481572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Easier to interpret and compare directly with data</a:t>
            </a:r>
            <a:endParaRPr lang="en-US" sz="1750" dirty="0"/>
          </a:p>
        </p:txBody>
      </p:sp>
      <p:sp>
        <p:nvSpPr>
          <p:cNvPr id="13" name="Shape 9"/>
          <p:cNvSpPr/>
          <p:nvPr/>
        </p:nvSpPr>
        <p:spPr>
          <a:xfrm>
            <a:off x="793790" y="6019205"/>
            <a:ext cx="13042821" cy="1326713"/>
          </a:xfrm>
          <a:prstGeom prst="roundRect">
            <a:avLst>
              <a:gd name="adj" fmla="val 7181"/>
            </a:avLst>
          </a:prstGeom>
          <a:solidFill>
            <a:srgbClr val="DDF8F2"/>
          </a:solidFill>
          <a:ln/>
        </p:spPr>
      </p:sp>
      <p:pic>
        <p:nvPicPr>
          <p:cNvPr id="14" name="Image 2" descr="preencoded.png">    </p:cNvPr>
          <p:cNvPicPr>
            <a:picLocks noChangeAspect="1"/>
          </p:cNvPicPr>
          <p:nvPr/>
        </p:nvPicPr>
        <p:blipFill>
          <a:blip r:embed="rId3"/>
          <a:stretch>
            <a:fillRect/>
          </a:stretch>
        </p:blipFill>
        <p:spPr>
          <a:xfrm>
            <a:off x="1020604" y="6370915"/>
            <a:ext cx="283488" cy="226814"/>
          </a:xfrm>
          <a:prstGeom prst="rect">
            <a:avLst/>
          </a:prstGeom>
        </p:spPr>
      </p:pic>
      <p:sp>
        <p:nvSpPr>
          <p:cNvPr id="15" name="Text 10"/>
          <p:cNvSpPr/>
          <p:nvPr/>
        </p:nvSpPr>
        <p:spPr>
          <a:xfrm>
            <a:off x="1530906" y="6302693"/>
            <a:ext cx="1207889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Open Sans" pitchFamily="34" charset="0"/>
                <a:ea typeface="Open Sans" pitchFamily="34" charset="-122"/>
                <a:cs typeface="Open Sans" pitchFamily="34" charset="-120"/>
              </a:rPr>
              <a:t>Both metrics quantify the average magnitude of errors, but RMSE provides a more interpretable value in the context of the original data.</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290411" y="1517452"/>
            <a:ext cx="8049458" cy="354330"/>
          </a:xfrm>
          <a:prstGeom prst="rect">
            <a:avLst/>
          </a:prstGeom>
          <a:noFill/>
          <a:ln/>
        </p:spPr>
        <p:txBody>
          <a:bodyPr wrap="none" lIns="0" tIns="0" rIns="0" bIns="0" rtlCol="0" anchor="t"/>
          <a:lstStyle/>
          <a:p>
            <a:pPr algn="ct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Application Scope: Regression Problems Only</a:t>
            </a:r>
            <a:endParaRPr lang="en-US" sz="2200" dirty="0"/>
          </a:p>
        </p:txBody>
      </p:sp>
      <p:sp>
        <p:nvSpPr>
          <p:cNvPr id="3" name="Text 1"/>
          <p:cNvSpPr/>
          <p:nvPr/>
        </p:nvSpPr>
        <p:spPr>
          <a:xfrm>
            <a:off x="793790" y="2353747"/>
            <a:ext cx="6034088" cy="582216"/>
          </a:xfrm>
          <a:prstGeom prst="rect">
            <a:avLst/>
          </a:prstGeom>
          <a:noFill/>
          <a:ln/>
        </p:spPr>
        <p:txBody>
          <a:bodyPr wrap="none" lIns="0" tIns="0" rIns="0" bIns="0" rtlCol="0" anchor="t"/>
          <a:lstStyle/>
          <a:p>
            <a:pPr algn="l" indent="0" marL="0">
              <a:lnSpc>
                <a:spcPts val="4450"/>
              </a:lnSpc>
              <a:buNone/>
            </a:pPr>
            <a:r>
              <a:rPr lang="en-US" sz="3550" b="1" dirty="0">
                <a:solidFill>
                  <a:srgbClr val="333F70"/>
                </a:solidFill>
                <a:latin typeface="Unbounded Bold" pitchFamily="34" charset="0"/>
                <a:ea typeface="Unbounded Bold" pitchFamily="34" charset="-122"/>
                <a:cs typeface="Unbounded Bold" pitchFamily="34" charset="-120"/>
              </a:rPr>
              <a:t>Used in Regression </a:t>
            </a:r>
            <a:pPr algn="l" indent="0" marL="0">
              <a:lnSpc>
                <a:spcPts val="4450"/>
              </a:lnSpc>
              <a:buNone/>
            </a:pPr>
            <a:r>
              <a:rPr lang="en-US" sz="3550" b="1" dirty="0">
                <a:solidFill>
                  <a:srgbClr val="000000"/>
                </a:solidFill>
                <a:latin typeface="Unbounded Bold" pitchFamily="34" charset="0"/>
                <a:ea typeface="Unbounded Bold" pitchFamily="34" charset="-122"/>
                <a:cs typeface="Unbounded Bold" pitchFamily="34" charset="-120"/>
              </a:rPr>
              <a:t>✅</a:t>
            </a:r>
            <a:endParaRPr lang="en-US" sz="3550" dirty="0"/>
          </a:p>
        </p:txBody>
      </p:sp>
      <p:sp>
        <p:nvSpPr>
          <p:cNvPr id="4" name="Text 2"/>
          <p:cNvSpPr/>
          <p:nvPr/>
        </p:nvSpPr>
        <p:spPr>
          <a:xfrm>
            <a:off x="793790" y="3162776"/>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MSE and RMSE are exclusively designed for regression tasks, where the goal is to predict continuous numerical values with precision.</a:t>
            </a:r>
            <a:endParaRPr lang="en-US" sz="1750" dirty="0"/>
          </a:p>
        </p:txBody>
      </p:sp>
      <p:sp>
        <p:nvSpPr>
          <p:cNvPr id="5" name="Text 3"/>
          <p:cNvSpPr/>
          <p:nvPr/>
        </p:nvSpPr>
        <p:spPr>
          <a:xfrm>
            <a:off x="793790" y="4455557"/>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Predicting house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prices</a:t>
            </a:r>
            <a:endParaRPr lang="en-US" sz="1750" dirty="0"/>
          </a:p>
        </p:txBody>
      </p:sp>
      <p:sp>
        <p:nvSpPr>
          <p:cNvPr id="6" name="Text 4"/>
          <p:cNvSpPr/>
          <p:nvPr/>
        </p:nvSpPr>
        <p:spPr>
          <a:xfrm>
            <a:off x="793790" y="4897755"/>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Estimating delivery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times</a:t>
            </a:r>
            <a:endParaRPr lang="en-US" sz="1750" dirty="0"/>
          </a:p>
        </p:txBody>
      </p:sp>
      <p:sp>
        <p:nvSpPr>
          <p:cNvPr id="7" name="Text 5"/>
          <p:cNvSpPr/>
          <p:nvPr/>
        </p:nvSpPr>
        <p:spPr>
          <a:xfrm>
            <a:off x="793790" y="5339953"/>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Forecasting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temperatures</a:t>
            </a:r>
            <a:endParaRPr lang="en-US" sz="1750" dirty="0"/>
          </a:p>
        </p:txBody>
      </p:sp>
      <p:sp>
        <p:nvSpPr>
          <p:cNvPr id="8" name="Text 6"/>
          <p:cNvSpPr/>
          <p:nvPr/>
        </p:nvSpPr>
        <p:spPr>
          <a:xfrm>
            <a:off x="793790" y="578215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Predicting product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demand</a:t>
            </a:r>
            <a:endParaRPr lang="en-US" sz="1750" dirty="0"/>
          </a:p>
        </p:txBody>
      </p:sp>
      <p:sp>
        <p:nvSpPr>
          <p:cNvPr id="9" name="Text 7"/>
          <p:cNvSpPr/>
          <p:nvPr/>
        </p:nvSpPr>
        <p:spPr>
          <a:xfrm>
            <a:off x="7599521" y="2353747"/>
            <a:ext cx="6244709" cy="1149191"/>
          </a:xfrm>
          <a:prstGeom prst="rect">
            <a:avLst/>
          </a:prstGeom>
          <a:noFill/>
          <a:ln/>
        </p:spPr>
        <p:txBody>
          <a:bodyPr wrap="square" lIns="0" tIns="0" rIns="0" bIns="0" rtlCol="0" anchor="t"/>
          <a:lstStyle/>
          <a:p>
            <a:pPr algn="l" indent="0" marL="0">
              <a:lnSpc>
                <a:spcPts val="4450"/>
              </a:lnSpc>
              <a:buNone/>
            </a:pPr>
            <a:r>
              <a:rPr lang="en-US" sz="3550" b="1" dirty="0">
                <a:solidFill>
                  <a:srgbClr val="333F70"/>
                </a:solidFill>
                <a:latin typeface="Unbounded Bold" pitchFamily="34" charset="0"/>
                <a:ea typeface="Unbounded Bold" pitchFamily="34" charset="-122"/>
                <a:cs typeface="Unbounded Bold" pitchFamily="34" charset="-120"/>
              </a:rPr>
              <a:t>Not for Classification </a:t>
            </a:r>
            <a:pPr algn="l" indent="0" marL="0">
              <a:lnSpc>
                <a:spcPts val="4450"/>
              </a:lnSpc>
              <a:buNone/>
            </a:pPr>
            <a:r>
              <a:rPr lang="en-US" sz="3550" b="1" dirty="0">
                <a:solidFill>
                  <a:srgbClr val="000000"/>
                </a:solidFill>
                <a:latin typeface="Unbounded Bold" pitchFamily="34" charset="0"/>
                <a:ea typeface="Unbounded Bold" pitchFamily="34" charset="-122"/>
                <a:cs typeface="Unbounded Bold" pitchFamily="34" charset="-120"/>
              </a:rPr>
              <a:t>❌</a:t>
            </a:r>
            <a:endParaRPr lang="en-US" sz="3550" dirty="0"/>
          </a:p>
        </p:txBody>
      </p:sp>
      <p:sp>
        <p:nvSpPr>
          <p:cNvPr id="10" name="Text 8"/>
          <p:cNvSpPr/>
          <p:nvPr/>
        </p:nvSpPr>
        <p:spPr>
          <a:xfrm>
            <a:off x="7599521" y="3729752"/>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These metrics are inappropriate for classification problems, which involve predicting discrete categories or class labels.</a:t>
            </a:r>
            <a:endParaRPr lang="en-US" sz="1750" dirty="0"/>
          </a:p>
        </p:txBody>
      </p:sp>
      <p:sp>
        <p:nvSpPr>
          <p:cNvPr id="11" name="Text 9"/>
          <p:cNvSpPr/>
          <p:nvPr/>
        </p:nvSpPr>
        <p:spPr>
          <a:xfrm>
            <a:off x="7599521" y="5022533"/>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Categorical labels (spam/not spam, disease/no disease)</a:t>
            </a:r>
            <a:endParaRPr lang="en-US" sz="1750" dirty="0"/>
          </a:p>
        </p:txBody>
      </p:sp>
      <p:sp>
        <p:nvSpPr>
          <p:cNvPr id="12" name="Text 10"/>
          <p:cNvSpPr/>
          <p:nvPr/>
        </p:nvSpPr>
        <p:spPr>
          <a:xfrm>
            <a:off x="7599521" y="5464731"/>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Metrics like accuracy, precision, and recall are used instead</a:t>
            </a:r>
            <a:endParaRPr lang="en-US" sz="1750" dirty="0"/>
          </a:p>
        </p:txBody>
      </p:sp>
      <p:sp>
        <p:nvSpPr>
          <p:cNvPr id="13" name="Text 11"/>
          <p:cNvSpPr/>
          <p:nvPr/>
        </p:nvSpPr>
        <p:spPr>
          <a:xfrm>
            <a:off x="7599521" y="626983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Different mathematical foundations required</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78900"/>
            <a:ext cx="13042821" cy="1133951"/>
          </a:xfrm>
          <a:prstGeom prst="rect">
            <a:avLst/>
          </a:prstGeom>
          <a:noFill/>
          <a:ln/>
        </p:spPr>
        <p:txBody>
          <a:bodyPr wrap="square" lIns="0" tIns="0" rIns="0" bIns="0" rtlCol="0" anchor="t"/>
          <a:lstStyle/>
          <a:p>
            <a:pPr algn="l" indent="0" marL="0">
              <a:lnSpc>
                <a:spcPts val="4450"/>
              </a:lnSpc>
              <a:buNone/>
            </a:pPr>
            <a:r>
              <a:rPr lang="en-US" sz="3550" b="1" dirty="0">
                <a:solidFill>
                  <a:srgbClr val="333F70"/>
                </a:solidFill>
                <a:latin typeface="Unbounded Bold" pitchFamily="34" charset="0"/>
                <a:ea typeface="Unbounded Bold" pitchFamily="34" charset="-122"/>
                <a:cs typeface="Unbounded Bold" pitchFamily="34" charset="-120"/>
              </a:rPr>
              <a:t>The Power of Squaring: Why Large Errors are Penalized</a:t>
            </a:r>
            <a:endParaRPr lang="en-US" sz="3550" dirty="0"/>
          </a:p>
        </p:txBody>
      </p:sp>
      <p:sp>
        <p:nvSpPr>
          <p:cNvPr id="3" name="Text 1"/>
          <p:cNvSpPr/>
          <p:nvPr/>
        </p:nvSpPr>
        <p:spPr>
          <a:xfrm>
            <a:off x="793790" y="3266480"/>
            <a:ext cx="13042821" cy="362903"/>
          </a:xfrm>
          <a:prstGeom prst="rect">
            <a:avLst/>
          </a:prstGeom>
          <a:noFill/>
          <a:ln/>
        </p:spPr>
        <p:txBody>
          <a:bodyPr wrap="none" lIns="0" tIns="0" rIns="0" bIns="0" rtlCol="0" anchor="t"/>
          <a:lstStyle/>
          <a:p>
            <a:pPr algn="ctr" indent="0" marL="0">
              <a:lnSpc>
                <a:spcPts val="2850"/>
              </a:lnSpc>
              <a:buNone/>
            </a:pPr>
            <a:r>
              <a:rPr lang="en-US" sz="1750" dirty="0">
                <a:solidFill>
                  <a:srgbClr val="333F70"/>
                </a:solidFill>
                <a:highlight>
                  <a:srgbClr val="DDF8F2"/>
                </a:highlight>
                <a:latin typeface="Open Sans" pitchFamily="34" charset="0"/>
                <a:ea typeface="Open Sans" pitchFamily="34" charset="-122"/>
                <a:cs typeface="Open Sans" pitchFamily="34" charset="-120"/>
              </a:rPr>
              <a:t>"Penalizing large errors" means bigger mistakes incur a disproportionately higher cost than smaller ones.</a:t>
            </a:r>
            <a:endParaRPr lang="en-US" sz="1750" dirty="0"/>
          </a:p>
        </p:txBody>
      </p:sp>
      <p:sp>
        <p:nvSpPr>
          <p:cNvPr id="4" name="Shape 2"/>
          <p:cNvSpPr/>
          <p:nvPr/>
        </p:nvSpPr>
        <p:spPr>
          <a:xfrm>
            <a:off x="793790" y="3884533"/>
            <a:ext cx="4196358" cy="1685092"/>
          </a:xfrm>
          <a:prstGeom prst="roundRect">
            <a:avLst>
              <a:gd name="adj" fmla="val 5654"/>
            </a:avLst>
          </a:prstGeom>
          <a:solidFill>
            <a:srgbClr val="D6F5EE"/>
          </a:solidFill>
          <a:ln w="7620">
            <a:solidFill>
              <a:srgbClr val="BCDBD4"/>
            </a:solidFill>
            <a:prstDash val="solid"/>
          </a:ln>
        </p:spPr>
      </p:sp>
      <p:sp>
        <p:nvSpPr>
          <p:cNvPr id="5" name="Text 3"/>
          <p:cNvSpPr/>
          <p:nvPr/>
        </p:nvSpPr>
        <p:spPr>
          <a:xfrm>
            <a:off x="1028224" y="411896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Small Error</a:t>
            </a:r>
            <a:endParaRPr lang="en-US" sz="2200" dirty="0"/>
          </a:p>
        </p:txBody>
      </p:sp>
      <p:sp>
        <p:nvSpPr>
          <p:cNvPr id="6" name="Text 4"/>
          <p:cNvSpPr/>
          <p:nvPr/>
        </p:nvSpPr>
        <p:spPr>
          <a:xfrm>
            <a:off x="1028224" y="4609386"/>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If the error is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2 units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Squared Error = 4</a:t>
            </a:r>
            <a:endParaRPr lang="en-US" sz="1750" dirty="0"/>
          </a:p>
        </p:txBody>
      </p:sp>
      <p:sp>
        <p:nvSpPr>
          <p:cNvPr id="7" name="Shape 5"/>
          <p:cNvSpPr/>
          <p:nvPr/>
        </p:nvSpPr>
        <p:spPr>
          <a:xfrm>
            <a:off x="5216962" y="3884533"/>
            <a:ext cx="4196358" cy="1685092"/>
          </a:xfrm>
          <a:prstGeom prst="roundRect">
            <a:avLst>
              <a:gd name="adj" fmla="val 5654"/>
            </a:avLst>
          </a:prstGeom>
          <a:solidFill>
            <a:srgbClr val="D6F5EE"/>
          </a:solidFill>
          <a:ln w="7620">
            <a:solidFill>
              <a:srgbClr val="BCDBD4"/>
            </a:solidFill>
            <a:prstDash val="solid"/>
          </a:ln>
        </p:spPr>
      </p:sp>
      <p:sp>
        <p:nvSpPr>
          <p:cNvPr id="8" name="Text 6"/>
          <p:cNvSpPr/>
          <p:nvPr/>
        </p:nvSpPr>
        <p:spPr>
          <a:xfrm>
            <a:off x="5451396" y="411896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Moderate Error</a:t>
            </a:r>
            <a:endParaRPr lang="en-US" sz="2200" dirty="0"/>
          </a:p>
        </p:txBody>
      </p:sp>
      <p:sp>
        <p:nvSpPr>
          <p:cNvPr id="9" name="Text 7"/>
          <p:cNvSpPr/>
          <p:nvPr/>
        </p:nvSpPr>
        <p:spPr>
          <a:xfrm>
            <a:off x="5451396" y="4609386"/>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If the error is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5 units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Squared Error = 25</a:t>
            </a:r>
            <a:endParaRPr lang="en-US" sz="1750" dirty="0"/>
          </a:p>
        </p:txBody>
      </p:sp>
      <p:sp>
        <p:nvSpPr>
          <p:cNvPr id="10" name="Shape 8"/>
          <p:cNvSpPr/>
          <p:nvPr/>
        </p:nvSpPr>
        <p:spPr>
          <a:xfrm>
            <a:off x="9640133" y="3884533"/>
            <a:ext cx="4196358" cy="1685092"/>
          </a:xfrm>
          <a:prstGeom prst="roundRect">
            <a:avLst>
              <a:gd name="adj" fmla="val 5654"/>
            </a:avLst>
          </a:prstGeom>
          <a:solidFill>
            <a:srgbClr val="D6F5EE"/>
          </a:solidFill>
          <a:ln w="7620">
            <a:solidFill>
              <a:srgbClr val="BCDBD4"/>
            </a:solidFill>
            <a:prstDash val="solid"/>
          </a:ln>
        </p:spPr>
      </p:sp>
      <p:sp>
        <p:nvSpPr>
          <p:cNvPr id="11" name="Text 9"/>
          <p:cNvSpPr/>
          <p:nvPr/>
        </p:nvSpPr>
        <p:spPr>
          <a:xfrm>
            <a:off x="9874568" y="411896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Large Error</a:t>
            </a:r>
            <a:endParaRPr lang="en-US" sz="2200" dirty="0"/>
          </a:p>
        </p:txBody>
      </p:sp>
      <p:sp>
        <p:nvSpPr>
          <p:cNvPr id="12" name="Text 10"/>
          <p:cNvSpPr/>
          <p:nvPr/>
        </p:nvSpPr>
        <p:spPr>
          <a:xfrm>
            <a:off x="9874568" y="4609386"/>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If the error is </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10 units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Squared Error = 100</a:t>
            </a:r>
            <a:endParaRPr lang="en-US" sz="1750" dirty="0"/>
          </a:p>
        </p:txBody>
      </p:sp>
      <p:sp>
        <p:nvSpPr>
          <p:cNvPr id="13" name="Text 11"/>
          <p:cNvSpPr/>
          <p:nvPr/>
        </p:nvSpPr>
        <p:spPr>
          <a:xfrm>
            <a:off x="793790" y="582477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The squaring function causes errors to grow exponentially. This mathematical characteristic is highly desirable in scenarios where significant mistakes carry severe consequences, such as inaccurate medical dosages or critical financial predictions.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16875"/>
            <a:ext cx="7868841" cy="453628"/>
          </a:xfrm>
          <a:prstGeom prst="rect">
            <a:avLst/>
          </a:prstGeom>
          <a:noFill/>
          <a:ln/>
        </p:spPr>
        <p:txBody>
          <a:bodyPr wrap="none" lIns="0" tIns="0" rIns="0" bIns="0" rtlCol="0" anchor="t"/>
          <a:lstStyle/>
          <a:p>
            <a:pPr algn="l" indent="0" marL="0">
              <a:lnSpc>
                <a:spcPts val="3550"/>
              </a:lnSpc>
              <a:buNone/>
            </a:pPr>
            <a:r>
              <a:rPr lang="en-US" sz="2850" b="1" dirty="0">
                <a:solidFill>
                  <a:srgbClr val="333F70"/>
                </a:solidFill>
                <a:latin typeface="Unbounded Bold" pitchFamily="34" charset="0"/>
                <a:ea typeface="Unbounded Bold" pitchFamily="34" charset="-122"/>
                <a:cs typeface="Unbounded Bold" pitchFamily="34" charset="-120"/>
              </a:rPr>
              <a:t>Example 1: Consistent Small Errors</a:t>
            </a:r>
            <a:endParaRPr lang="en-US" sz="2850" dirty="0"/>
          </a:p>
        </p:txBody>
      </p:sp>
      <p:sp>
        <p:nvSpPr>
          <p:cNvPr id="3" name="Text 1"/>
          <p:cNvSpPr/>
          <p:nvPr/>
        </p:nvSpPr>
        <p:spPr>
          <a:xfrm>
            <a:off x="793790" y="1533406"/>
            <a:ext cx="13042821"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Consider a model predicting delivery times, where all predictions are consistently off by just 1 minute.</a:t>
            </a:r>
            <a:endParaRPr lang="en-US" sz="1400" dirty="0"/>
          </a:p>
        </p:txBody>
      </p:sp>
      <p:sp>
        <p:nvSpPr>
          <p:cNvPr id="4" name="Shape 2"/>
          <p:cNvSpPr/>
          <p:nvPr/>
        </p:nvSpPr>
        <p:spPr>
          <a:xfrm>
            <a:off x="793790" y="2027753"/>
            <a:ext cx="13042821" cy="3154204"/>
          </a:xfrm>
          <a:prstGeom prst="roundRect">
            <a:avLst>
              <a:gd name="adj" fmla="val 2416"/>
            </a:avLst>
          </a:prstGeom>
          <a:noFill/>
          <a:ln w="7620">
            <a:solidFill>
              <a:srgbClr val="000000">
                <a:alpha val="8000"/>
              </a:srgbClr>
            </a:solidFill>
            <a:prstDash val="solid"/>
          </a:ln>
        </p:spPr>
      </p:sp>
      <p:sp>
        <p:nvSpPr>
          <p:cNvPr id="5" name="Shape 3"/>
          <p:cNvSpPr/>
          <p:nvPr/>
        </p:nvSpPr>
        <p:spPr>
          <a:xfrm>
            <a:off x="801410" y="2035373"/>
            <a:ext cx="13027581" cy="523161"/>
          </a:xfrm>
          <a:prstGeom prst="rect">
            <a:avLst/>
          </a:prstGeom>
          <a:solidFill>
            <a:srgbClr val="FFFFFF">
              <a:alpha val="4000"/>
            </a:srgbClr>
          </a:solidFill>
          <a:ln/>
        </p:spPr>
      </p:sp>
      <p:sp>
        <p:nvSpPr>
          <p:cNvPr id="6" name="Text 4"/>
          <p:cNvSpPr/>
          <p:nvPr/>
        </p:nvSpPr>
        <p:spPr>
          <a:xfrm>
            <a:off x="983099" y="2151817"/>
            <a:ext cx="289012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Actual</a:t>
            </a:r>
            <a:endParaRPr lang="en-US" sz="1400" dirty="0"/>
          </a:p>
        </p:txBody>
      </p:sp>
      <p:sp>
        <p:nvSpPr>
          <p:cNvPr id="7" name="Text 5"/>
          <p:cNvSpPr/>
          <p:nvPr/>
        </p:nvSpPr>
        <p:spPr>
          <a:xfrm>
            <a:off x="4243745" y="2151817"/>
            <a:ext cx="288631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Predicted</a:t>
            </a:r>
            <a:endParaRPr lang="en-US" sz="1400" dirty="0"/>
          </a:p>
        </p:txBody>
      </p:sp>
      <p:sp>
        <p:nvSpPr>
          <p:cNvPr id="8" name="Text 6"/>
          <p:cNvSpPr/>
          <p:nvPr/>
        </p:nvSpPr>
        <p:spPr>
          <a:xfrm>
            <a:off x="7500580" y="2151817"/>
            <a:ext cx="288631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Error</a:t>
            </a:r>
            <a:endParaRPr lang="en-US" sz="1400" dirty="0"/>
          </a:p>
        </p:txBody>
      </p:sp>
      <p:sp>
        <p:nvSpPr>
          <p:cNvPr id="9" name="Text 7"/>
          <p:cNvSpPr/>
          <p:nvPr/>
        </p:nvSpPr>
        <p:spPr>
          <a:xfrm>
            <a:off x="10757416" y="2151817"/>
            <a:ext cx="289012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Error²</a:t>
            </a:r>
            <a:endParaRPr lang="en-US" sz="1400" dirty="0"/>
          </a:p>
        </p:txBody>
      </p:sp>
      <p:sp>
        <p:nvSpPr>
          <p:cNvPr id="10" name="Shape 8"/>
          <p:cNvSpPr/>
          <p:nvPr/>
        </p:nvSpPr>
        <p:spPr>
          <a:xfrm>
            <a:off x="801410" y="2558534"/>
            <a:ext cx="13027581" cy="523161"/>
          </a:xfrm>
          <a:prstGeom prst="rect">
            <a:avLst/>
          </a:prstGeom>
          <a:solidFill>
            <a:srgbClr val="000000">
              <a:alpha val="4000"/>
            </a:srgbClr>
          </a:solidFill>
          <a:ln/>
        </p:spPr>
      </p:sp>
      <p:sp>
        <p:nvSpPr>
          <p:cNvPr id="11" name="Text 9"/>
          <p:cNvSpPr/>
          <p:nvPr/>
        </p:nvSpPr>
        <p:spPr>
          <a:xfrm>
            <a:off x="983099" y="2674977"/>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10</a:t>
            </a:r>
            <a:endParaRPr lang="en-US" sz="1400" dirty="0"/>
          </a:p>
        </p:txBody>
      </p:sp>
      <p:sp>
        <p:nvSpPr>
          <p:cNvPr id="12" name="Text 10"/>
          <p:cNvSpPr/>
          <p:nvPr/>
        </p:nvSpPr>
        <p:spPr>
          <a:xfrm>
            <a:off x="4243745" y="2674977"/>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11</a:t>
            </a:r>
            <a:endParaRPr lang="en-US" sz="1400" dirty="0"/>
          </a:p>
        </p:txBody>
      </p:sp>
      <p:sp>
        <p:nvSpPr>
          <p:cNvPr id="13" name="Text 11"/>
          <p:cNvSpPr/>
          <p:nvPr/>
        </p:nvSpPr>
        <p:spPr>
          <a:xfrm>
            <a:off x="7500580" y="2674977"/>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14" name="Text 12"/>
          <p:cNvSpPr/>
          <p:nvPr/>
        </p:nvSpPr>
        <p:spPr>
          <a:xfrm>
            <a:off x="10757416" y="2674977"/>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15" name="Shape 13"/>
          <p:cNvSpPr/>
          <p:nvPr/>
        </p:nvSpPr>
        <p:spPr>
          <a:xfrm>
            <a:off x="801410" y="3081695"/>
            <a:ext cx="13027581" cy="523161"/>
          </a:xfrm>
          <a:prstGeom prst="rect">
            <a:avLst/>
          </a:prstGeom>
          <a:solidFill>
            <a:srgbClr val="FFFFFF">
              <a:alpha val="4000"/>
            </a:srgbClr>
          </a:solidFill>
          <a:ln/>
        </p:spPr>
      </p:sp>
      <p:sp>
        <p:nvSpPr>
          <p:cNvPr id="16" name="Text 14"/>
          <p:cNvSpPr/>
          <p:nvPr/>
        </p:nvSpPr>
        <p:spPr>
          <a:xfrm>
            <a:off x="983099" y="3198138"/>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20</a:t>
            </a:r>
            <a:endParaRPr lang="en-US" sz="1400" dirty="0"/>
          </a:p>
        </p:txBody>
      </p:sp>
      <p:sp>
        <p:nvSpPr>
          <p:cNvPr id="17" name="Text 15"/>
          <p:cNvSpPr/>
          <p:nvPr/>
        </p:nvSpPr>
        <p:spPr>
          <a:xfrm>
            <a:off x="4243745" y="3198138"/>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21</a:t>
            </a:r>
            <a:endParaRPr lang="en-US" sz="1400" dirty="0"/>
          </a:p>
        </p:txBody>
      </p:sp>
      <p:sp>
        <p:nvSpPr>
          <p:cNvPr id="18" name="Text 16"/>
          <p:cNvSpPr/>
          <p:nvPr/>
        </p:nvSpPr>
        <p:spPr>
          <a:xfrm>
            <a:off x="7500580" y="3198138"/>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19" name="Text 17"/>
          <p:cNvSpPr/>
          <p:nvPr/>
        </p:nvSpPr>
        <p:spPr>
          <a:xfrm>
            <a:off x="10757416" y="3198138"/>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0" name="Shape 18"/>
          <p:cNvSpPr/>
          <p:nvPr/>
        </p:nvSpPr>
        <p:spPr>
          <a:xfrm>
            <a:off x="801410" y="3604855"/>
            <a:ext cx="13027581" cy="523161"/>
          </a:xfrm>
          <a:prstGeom prst="rect">
            <a:avLst/>
          </a:prstGeom>
          <a:solidFill>
            <a:srgbClr val="000000">
              <a:alpha val="4000"/>
            </a:srgbClr>
          </a:solidFill>
          <a:ln/>
        </p:spPr>
      </p:sp>
      <p:sp>
        <p:nvSpPr>
          <p:cNvPr id="21" name="Text 19"/>
          <p:cNvSpPr/>
          <p:nvPr/>
        </p:nvSpPr>
        <p:spPr>
          <a:xfrm>
            <a:off x="983099" y="3721298"/>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30</a:t>
            </a:r>
            <a:endParaRPr lang="en-US" sz="1400" dirty="0"/>
          </a:p>
        </p:txBody>
      </p:sp>
      <p:sp>
        <p:nvSpPr>
          <p:cNvPr id="22" name="Text 20"/>
          <p:cNvSpPr/>
          <p:nvPr/>
        </p:nvSpPr>
        <p:spPr>
          <a:xfrm>
            <a:off x="4243745" y="3721298"/>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31</a:t>
            </a:r>
            <a:endParaRPr lang="en-US" sz="1400" dirty="0"/>
          </a:p>
        </p:txBody>
      </p:sp>
      <p:sp>
        <p:nvSpPr>
          <p:cNvPr id="23" name="Text 21"/>
          <p:cNvSpPr/>
          <p:nvPr/>
        </p:nvSpPr>
        <p:spPr>
          <a:xfrm>
            <a:off x="7500580" y="3721298"/>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4" name="Text 22"/>
          <p:cNvSpPr/>
          <p:nvPr/>
        </p:nvSpPr>
        <p:spPr>
          <a:xfrm>
            <a:off x="10757416" y="3721298"/>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5" name="Shape 23"/>
          <p:cNvSpPr/>
          <p:nvPr/>
        </p:nvSpPr>
        <p:spPr>
          <a:xfrm>
            <a:off x="801410" y="4128016"/>
            <a:ext cx="13027581" cy="523161"/>
          </a:xfrm>
          <a:prstGeom prst="rect">
            <a:avLst/>
          </a:prstGeom>
          <a:solidFill>
            <a:srgbClr val="FFFFFF">
              <a:alpha val="4000"/>
            </a:srgbClr>
          </a:solidFill>
          <a:ln/>
        </p:spPr>
      </p:sp>
      <p:sp>
        <p:nvSpPr>
          <p:cNvPr id="26" name="Text 24"/>
          <p:cNvSpPr/>
          <p:nvPr/>
        </p:nvSpPr>
        <p:spPr>
          <a:xfrm>
            <a:off x="983099" y="4244459"/>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40</a:t>
            </a:r>
            <a:endParaRPr lang="en-US" sz="1400" dirty="0"/>
          </a:p>
        </p:txBody>
      </p:sp>
      <p:sp>
        <p:nvSpPr>
          <p:cNvPr id="27" name="Text 25"/>
          <p:cNvSpPr/>
          <p:nvPr/>
        </p:nvSpPr>
        <p:spPr>
          <a:xfrm>
            <a:off x="4243745" y="4244459"/>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41</a:t>
            </a:r>
            <a:endParaRPr lang="en-US" sz="1400" dirty="0"/>
          </a:p>
        </p:txBody>
      </p:sp>
      <p:sp>
        <p:nvSpPr>
          <p:cNvPr id="28" name="Text 26"/>
          <p:cNvSpPr/>
          <p:nvPr/>
        </p:nvSpPr>
        <p:spPr>
          <a:xfrm>
            <a:off x="7500580" y="4244459"/>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9" name="Text 27"/>
          <p:cNvSpPr/>
          <p:nvPr/>
        </p:nvSpPr>
        <p:spPr>
          <a:xfrm>
            <a:off x="10757416" y="4244459"/>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30" name="Shape 28"/>
          <p:cNvSpPr/>
          <p:nvPr/>
        </p:nvSpPr>
        <p:spPr>
          <a:xfrm>
            <a:off x="801410" y="4651177"/>
            <a:ext cx="13027581" cy="523161"/>
          </a:xfrm>
          <a:prstGeom prst="rect">
            <a:avLst/>
          </a:prstGeom>
          <a:solidFill>
            <a:srgbClr val="000000">
              <a:alpha val="4000"/>
            </a:srgbClr>
          </a:solidFill>
          <a:ln/>
        </p:spPr>
      </p:sp>
      <p:sp>
        <p:nvSpPr>
          <p:cNvPr id="31" name="Text 29"/>
          <p:cNvSpPr/>
          <p:nvPr/>
        </p:nvSpPr>
        <p:spPr>
          <a:xfrm>
            <a:off x="983099" y="4767620"/>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50</a:t>
            </a:r>
            <a:endParaRPr lang="en-US" sz="1400" dirty="0"/>
          </a:p>
        </p:txBody>
      </p:sp>
      <p:sp>
        <p:nvSpPr>
          <p:cNvPr id="32" name="Text 30"/>
          <p:cNvSpPr/>
          <p:nvPr/>
        </p:nvSpPr>
        <p:spPr>
          <a:xfrm>
            <a:off x="4243745" y="4767620"/>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51</a:t>
            </a:r>
            <a:endParaRPr lang="en-US" sz="1400" dirty="0"/>
          </a:p>
        </p:txBody>
      </p:sp>
      <p:sp>
        <p:nvSpPr>
          <p:cNvPr id="33" name="Text 31"/>
          <p:cNvSpPr/>
          <p:nvPr/>
        </p:nvSpPr>
        <p:spPr>
          <a:xfrm>
            <a:off x="7500580" y="4767620"/>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34" name="Text 32"/>
          <p:cNvSpPr/>
          <p:nvPr/>
        </p:nvSpPr>
        <p:spPr>
          <a:xfrm>
            <a:off x="10757416" y="4767620"/>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pic>
        <p:nvPicPr>
          <p:cNvPr id="35" name="Image 0" descr="preencoded.png">    </p:cNvPr>
          <p:cNvPicPr>
            <a:picLocks noChangeAspect="1"/>
          </p:cNvPicPr>
          <p:nvPr/>
        </p:nvPicPr>
        <p:blipFill>
          <a:blip r:embed="rId1"/>
          <a:stretch>
            <a:fillRect/>
          </a:stretch>
        </p:blipFill>
        <p:spPr>
          <a:xfrm>
            <a:off x="793790" y="5386030"/>
            <a:ext cx="10434161" cy="396478"/>
          </a:xfrm>
          <a:prstGeom prst="rect">
            <a:avLst/>
          </a:prstGeom>
        </p:spPr>
      </p:pic>
      <p:pic>
        <p:nvPicPr>
          <p:cNvPr id="36" name="Image 1" descr="preencoded.png">    </p:cNvPr>
          <p:cNvPicPr>
            <a:picLocks noChangeAspect="1"/>
          </p:cNvPicPr>
          <p:nvPr/>
        </p:nvPicPr>
        <p:blipFill>
          <a:blip r:embed="rId2"/>
          <a:stretch>
            <a:fillRect/>
          </a:stretch>
        </p:blipFill>
        <p:spPr>
          <a:xfrm>
            <a:off x="793790" y="5986582"/>
            <a:ext cx="10434161" cy="260747"/>
          </a:xfrm>
          <a:prstGeom prst="rect">
            <a:avLst/>
          </a:prstGeom>
        </p:spPr>
      </p:pic>
      <p:sp>
        <p:nvSpPr>
          <p:cNvPr id="37" name="Shape 33"/>
          <p:cNvSpPr/>
          <p:nvPr/>
        </p:nvSpPr>
        <p:spPr>
          <a:xfrm>
            <a:off x="793790" y="6451402"/>
            <a:ext cx="13042821" cy="1061323"/>
          </a:xfrm>
          <a:prstGeom prst="roundRect">
            <a:avLst>
              <a:gd name="adj" fmla="val 7181"/>
            </a:avLst>
          </a:prstGeom>
          <a:solidFill>
            <a:srgbClr val="B4EEE0"/>
          </a:solidFill>
          <a:ln/>
        </p:spPr>
      </p:sp>
      <p:pic>
        <p:nvPicPr>
          <p:cNvPr id="38" name="Image 2" descr="preencoded.png">    </p:cNvPr>
          <p:cNvPicPr>
            <a:picLocks noChangeAspect="1"/>
          </p:cNvPicPr>
          <p:nvPr/>
        </p:nvPicPr>
        <p:blipFill>
          <a:blip r:embed="rId3"/>
          <a:stretch>
            <a:fillRect/>
          </a:stretch>
        </p:blipFill>
        <p:spPr>
          <a:xfrm>
            <a:off x="975241" y="6732746"/>
            <a:ext cx="226814" cy="181451"/>
          </a:xfrm>
          <a:prstGeom prst="rect">
            <a:avLst/>
          </a:prstGeom>
        </p:spPr>
      </p:pic>
      <p:sp>
        <p:nvSpPr>
          <p:cNvPr id="39" name="Text 34"/>
          <p:cNvSpPr/>
          <p:nvPr/>
        </p:nvSpPr>
        <p:spPr>
          <a:xfrm>
            <a:off x="1383506" y="6678216"/>
            <a:ext cx="12271653" cy="580549"/>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Open Sans" pitchFamily="34" charset="0"/>
                <a:ea typeface="Open Sans" pitchFamily="34" charset="-122"/>
                <a:cs typeface="Open Sans" pitchFamily="34" charset="-120"/>
              </a:rPr>
              <a:t>In this scenario, the model exhibits high consistency. The MSE and RMSE remain low, indicating that the small, uniform errors do not significantly impact the overall error metric.</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30687"/>
            <a:ext cx="8719899" cy="453628"/>
          </a:xfrm>
          <a:prstGeom prst="rect">
            <a:avLst/>
          </a:prstGeom>
          <a:noFill/>
          <a:ln/>
        </p:spPr>
        <p:txBody>
          <a:bodyPr wrap="none" lIns="0" tIns="0" rIns="0" bIns="0" rtlCol="0" anchor="t"/>
          <a:lstStyle/>
          <a:p>
            <a:pPr algn="l" indent="0" marL="0">
              <a:lnSpc>
                <a:spcPts val="3550"/>
              </a:lnSpc>
              <a:buNone/>
            </a:pPr>
            <a:r>
              <a:rPr lang="en-US" sz="2850" b="1" dirty="0">
                <a:solidFill>
                  <a:srgbClr val="333F70"/>
                </a:solidFill>
                <a:latin typeface="Unbounded Bold" pitchFamily="34" charset="0"/>
                <a:ea typeface="Unbounded Bold" pitchFamily="34" charset="-122"/>
                <a:cs typeface="Unbounded Bold" pitchFamily="34" charset="-120"/>
              </a:rPr>
              <a:t>Example 2: One Large Error Dominates</a:t>
            </a:r>
            <a:endParaRPr lang="en-US" sz="2850" dirty="0"/>
          </a:p>
        </p:txBody>
      </p:sp>
      <p:sp>
        <p:nvSpPr>
          <p:cNvPr id="3" name="Text 1"/>
          <p:cNvSpPr/>
          <p:nvPr/>
        </p:nvSpPr>
        <p:spPr>
          <a:xfrm>
            <a:off x="793790" y="1547217"/>
            <a:ext cx="13042821"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Now, observe the dramatic effect when just one prediction is significantly off, while others remain small.</a:t>
            </a:r>
            <a:endParaRPr lang="en-US" sz="1400" dirty="0"/>
          </a:p>
        </p:txBody>
      </p:sp>
      <p:sp>
        <p:nvSpPr>
          <p:cNvPr id="4" name="Shape 2"/>
          <p:cNvSpPr/>
          <p:nvPr/>
        </p:nvSpPr>
        <p:spPr>
          <a:xfrm>
            <a:off x="793790" y="2041565"/>
            <a:ext cx="13042821" cy="3154204"/>
          </a:xfrm>
          <a:prstGeom prst="roundRect">
            <a:avLst>
              <a:gd name="adj" fmla="val 2416"/>
            </a:avLst>
          </a:prstGeom>
          <a:noFill/>
          <a:ln w="7620">
            <a:solidFill>
              <a:srgbClr val="000000">
                <a:alpha val="8000"/>
              </a:srgbClr>
            </a:solidFill>
            <a:prstDash val="solid"/>
          </a:ln>
        </p:spPr>
      </p:sp>
      <p:sp>
        <p:nvSpPr>
          <p:cNvPr id="5" name="Shape 3"/>
          <p:cNvSpPr/>
          <p:nvPr/>
        </p:nvSpPr>
        <p:spPr>
          <a:xfrm>
            <a:off x="801410" y="2049185"/>
            <a:ext cx="13027581" cy="523161"/>
          </a:xfrm>
          <a:prstGeom prst="rect">
            <a:avLst/>
          </a:prstGeom>
          <a:solidFill>
            <a:srgbClr val="FFFFFF">
              <a:alpha val="4000"/>
            </a:srgbClr>
          </a:solidFill>
          <a:ln/>
        </p:spPr>
      </p:sp>
      <p:sp>
        <p:nvSpPr>
          <p:cNvPr id="6" name="Text 4"/>
          <p:cNvSpPr/>
          <p:nvPr/>
        </p:nvSpPr>
        <p:spPr>
          <a:xfrm>
            <a:off x="983099" y="2165628"/>
            <a:ext cx="289012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Actual</a:t>
            </a:r>
            <a:endParaRPr lang="en-US" sz="1400" dirty="0"/>
          </a:p>
        </p:txBody>
      </p:sp>
      <p:sp>
        <p:nvSpPr>
          <p:cNvPr id="7" name="Text 5"/>
          <p:cNvSpPr/>
          <p:nvPr/>
        </p:nvSpPr>
        <p:spPr>
          <a:xfrm>
            <a:off x="4243745" y="2165628"/>
            <a:ext cx="288631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Predicted</a:t>
            </a:r>
            <a:endParaRPr lang="en-US" sz="1400" dirty="0"/>
          </a:p>
        </p:txBody>
      </p:sp>
      <p:sp>
        <p:nvSpPr>
          <p:cNvPr id="8" name="Text 6"/>
          <p:cNvSpPr/>
          <p:nvPr/>
        </p:nvSpPr>
        <p:spPr>
          <a:xfrm>
            <a:off x="7500580" y="2165628"/>
            <a:ext cx="288631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Error</a:t>
            </a:r>
            <a:endParaRPr lang="en-US" sz="1400" dirty="0"/>
          </a:p>
        </p:txBody>
      </p:sp>
      <p:sp>
        <p:nvSpPr>
          <p:cNvPr id="9" name="Text 7"/>
          <p:cNvSpPr/>
          <p:nvPr/>
        </p:nvSpPr>
        <p:spPr>
          <a:xfrm>
            <a:off x="10757416" y="2165628"/>
            <a:ext cx="289012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Error²</a:t>
            </a:r>
            <a:endParaRPr lang="en-US" sz="1400" dirty="0"/>
          </a:p>
        </p:txBody>
      </p:sp>
      <p:sp>
        <p:nvSpPr>
          <p:cNvPr id="10" name="Shape 8"/>
          <p:cNvSpPr/>
          <p:nvPr/>
        </p:nvSpPr>
        <p:spPr>
          <a:xfrm>
            <a:off x="801410" y="2572345"/>
            <a:ext cx="13027581" cy="523161"/>
          </a:xfrm>
          <a:prstGeom prst="rect">
            <a:avLst/>
          </a:prstGeom>
          <a:solidFill>
            <a:srgbClr val="000000">
              <a:alpha val="4000"/>
            </a:srgbClr>
          </a:solidFill>
          <a:ln/>
        </p:spPr>
      </p:sp>
      <p:sp>
        <p:nvSpPr>
          <p:cNvPr id="11" name="Text 9"/>
          <p:cNvSpPr/>
          <p:nvPr/>
        </p:nvSpPr>
        <p:spPr>
          <a:xfrm>
            <a:off x="983099" y="2688788"/>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10</a:t>
            </a:r>
            <a:endParaRPr lang="en-US" sz="1400" dirty="0"/>
          </a:p>
        </p:txBody>
      </p:sp>
      <p:sp>
        <p:nvSpPr>
          <p:cNvPr id="12" name="Text 10"/>
          <p:cNvSpPr/>
          <p:nvPr/>
        </p:nvSpPr>
        <p:spPr>
          <a:xfrm>
            <a:off x="4243745" y="2688788"/>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11</a:t>
            </a:r>
            <a:endParaRPr lang="en-US" sz="1400" dirty="0"/>
          </a:p>
        </p:txBody>
      </p:sp>
      <p:sp>
        <p:nvSpPr>
          <p:cNvPr id="13" name="Text 11"/>
          <p:cNvSpPr/>
          <p:nvPr/>
        </p:nvSpPr>
        <p:spPr>
          <a:xfrm>
            <a:off x="7500580" y="2688788"/>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14" name="Text 12"/>
          <p:cNvSpPr/>
          <p:nvPr/>
        </p:nvSpPr>
        <p:spPr>
          <a:xfrm>
            <a:off x="10757416" y="2688788"/>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15" name="Shape 13"/>
          <p:cNvSpPr/>
          <p:nvPr/>
        </p:nvSpPr>
        <p:spPr>
          <a:xfrm>
            <a:off x="801410" y="3095506"/>
            <a:ext cx="13027581" cy="523161"/>
          </a:xfrm>
          <a:prstGeom prst="rect">
            <a:avLst/>
          </a:prstGeom>
          <a:solidFill>
            <a:srgbClr val="FFFFFF">
              <a:alpha val="4000"/>
            </a:srgbClr>
          </a:solidFill>
          <a:ln/>
        </p:spPr>
      </p:sp>
      <p:sp>
        <p:nvSpPr>
          <p:cNvPr id="16" name="Text 14"/>
          <p:cNvSpPr/>
          <p:nvPr/>
        </p:nvSpPr>
        <p:spPr>
          <a:xfrm>
            <a:off x="983099" y="3211949"/>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20</a:t>
            </a:r>
            <a:endParaRPr lang="en-US" sz="1400" dirty="0"/>
          </a:p>
        </p:txBody>
      </p:sp>
      <p:sp>
        <p:nvSpPr>
          <p:cNvPr id="17" name="Text 15"/>
          <p:cNvSpPr/>
          <p:nvPr/>
        </p:nvSpPr>
        <p:spPr>
          <a:xfrm>
            <a:off x="4243745" y="3211949"/>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21</a:t>
            </a:r>
            <a:endParaRPr lang="en-US" sz="1400" dirty="0"/>
          </a:p>
        </p:txBody>
      </p:sp>
      <p:sp>
        <p:nvSpPr>
          <p:cNvPr id="18" name="Text 16"/>
          <p:cNvSpPr/>
          <p:nvPr/>
        </p:nvSpPr>
        <p:spPr>
          <a:xfrm>
            <a:off x="7500580" y="3211949"/>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19" name="Text 17"/>
          <p:cNvSpPr/>
          <p:nvPr/>
        </p:nvSpPr>
        <p:spPr>
          <a:xfrm>
            <a:off x="10757416" y="3211949"/>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0" name="Shape 18"/>
          <p:cNvSpPr/>
          <p:nvPr/>
        </p:nvSpPr>
        <p:spPr>
          <a:xfrm>
            <a:off x="801410" y="3618667"/>
            <a:ext cx="13027581" cy="523161"/>
          </a:xfrm>
          <a:prstGeom prst="rect">
            <a:avLst/>
          </a:prstGeom>
          <a:solidFill>
            <a:srgbClr val="000000">
              <a:alpha val="4000"/>
            </a:srgbClr>
          </a:solidFill>
          <a:ln/>
        </p:spPr>
      </p:sp>
      <p:sp>
        <p:nvSpPr>
          <p:cNvPr id="21" name="Text 19"/>
          <p:cNvSpPr/>
          <p:nvPr/>
        </p:nvSpPr>
        <p:spPr>
          <a:xfrm>
            <a:off x="983099" y="3735110"/>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30</a:t>
            </a:r>
            <a:endParaRPr lang="en-US" sz="1400" dirty="0"/>
          </a:p>
        </p:txBody>
      </p:sp>
      <p:sp>
        <p:nvSpPr>
          <p:cNvPr id="22" name="Text 20"/>
          <p:cNvSpPr/>
          <p:nvPr/>
        </p:nvSpPr>
        <p:spPr>
          <a:xfrm>
            <a:off x="4243745" y="3735110"/>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31</a:t>
            </a:r>
            <a:endParaRPr lang="en-US" sz="1400" dirty="0"/>
          </a:p>
        </p:txBody>
      </p:sp>
      <p:sp>
        <p:nvSpPr>
          <p:cNvPr id="23" name="Text 21"/>
          <p:cNvSpPr/>
          <p:nvPr/>
        </p:nvSpPr>
        <p:spPr>
          <a:xfrm>
            <a:off x="7500580" y="3735110"/>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4" name="Text 22"/>
          <p:cNvSpPr/>
          <p:nvPr/>
        </p:nvSpPr>
        <p:spPr>
          <a:xfrm>
            <a:off x="10757416" y="3735110"/>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5" name="Shape 23"/>
          <p:cNvSpPr/>
          <p:nvPr/>
        </p:nvSpPr>
        <p:spPr>
          <a:xfrm>
            <a:off x="801410" y="4141827"/>
            <a:ext cx="13027581" cy="523161"/>
          </a:xfrm>
          <a:prstGeom prst="rect">
            <a:avLst/>
          </a:prstGeom>
          <a:solidFill>
            <a:srgbClr val="FFFFFF">
              <a:alpha val="4000"/>
            </a:srgbClr>
          </a:solidFill>
          <a:ln/>
        </p:spPr>
      </p:sp>
      <p:sp>
        <p:nvSpPr>
          <p:cNvPr id="26" name="Text 24"/>
          <p:cNvSpPr/>
          <p:nvPr/>
        </p:nvSpPr>
        <p:spPr>
          <a:xfrm>
            <a:off x="983099" y="4258270"/>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40</a:t>
            </a:r>
            <a:endParaRPr lang="en-US" sz="1400" dirty="0"/>
          </a:p>
        </p:txBody>
      </p:sp>
      <p:sp>
        <p:nvSpPr>
          <p:cNvPr id="27" name="Text 25"/>
          <p:cNvSpPr/>
          <p:nvPr/>
        </p:nvSpPr>
        <p:spPr>
          <a:xfrm>
            <a:off x="4243745" y="4258270"/>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41</a:t>
            </a:r>
            <a:endParaRPr lang="en-US" sz="1400" dirty="0"/>
          </a:p>
        </p:txBody>
      </p:sp>
      <p:sp>
        <p:nvSpPr>
          <p:cNvPr id="28" name="Text 26"/>
          <p:cNvSpPr/>
          <p:nvPr/>
        </p:nvSpPr>
        <p:spPr>
          <a:xfrm>
            <a:off x="7500580" y="4258270"/>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29" name="Text 27"/>
          <p:cNvSpPr/>
          <p:nvPr/>
        </p:nvSpPr>
        <p:spPr>
          <a:xfrm>
            <a:off x="10757416" y="4258270"/>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1</a:t>
            </a:r>
            <a:endParaRPr lang="en-US" sz="1400" dirty="0"/>
          </a:p>
        </p:txBody>
      </p:sp>
      <p:sp>
        <p:nvSpPr>
          <p:cNvPr id="30" name="Shape 28"/>
          <p:cNvSpPr/>
          <p:nvPr/>
        </p:nvSpPr>
        <p:spPr>
          <a:xfrm>
            <a:off x="801410" y="4664988"/>
            <a:ext cx="13027581" cy="523161"/>
          </a:xfrm>
          <a:prstGeom prst="rect">
            <a:avLst/>
          </a:prstGeom>
          <a:solidFill>
            <a:srgbClr val="000000">
              <a:alpha val="4000"/>
            </a:srgbClr>
          </a:solidFill>
          <a:ln/>
        </p:spPr>
      </p:sp>
      <p:sp>
        <p:nvSpPr>
          <p:cNvPr id="31" name="Text 29"/>
          <p:cNvSpPr/>
          <p:nvPr/>
        </p:nvSpPr>
        <p:spPr>
          <a:xfrm>
            <a:off x="983099" y="4781431"/>
            <a:ext cx="289012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50</a:t>
            </a:r>
            <a:endParaRPr lang="en-US" sz="1400" dirty="0"/>
          </a:p>
        </p:txBody>
      </p:sp>
      <p:sp>
        <p:nvSpPr>
          <p:cNvPr id="32" name="Text 30"/>
          <p:cNvSpPr/>
          <p:nvPr/>
        </p:nvSpPr>
        <p:spPr>
          <a:xfrm>
            <a:off x="4243745" y="4781431"/>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70</a:t>
            </a:r>
            <a:endParaRPr lang="en-US" sz="1400" dirty="0"/>
          </a:p>
        </p:txBody>
      </p:sp>
      <p:sp>
        <p:nvSpPr>
          <p:cNvPr id="33" name="Text 31"/>
          <p:cNvSpPr/>
          <p:nvPr/>
        </p:nvSpPr>
        <p:spPr>
          <a:xfrm>
            <a:off x="7500580" y="4781431"/>
            <a:ext cx="2886313" cy="290274"/>
          </a:xfrm>
          <a:prstGeom prst="rect">
            <a:avLst/>
          </a:prstGeom>
          <a:noFill/>
          <a:ln/>
        </p:spPr>
        <p:txBody>
          <a:bodyPr wrap="none" lIns="0" tIns="0" rIns="0" bIns="0" rtlCol="0" anchor="t"/>
          <a:lstStyle/>
          <a:p>
            <a:pPr algn="l" indent="0" marL="0">
              <a:lnSpc>
                <a:spcPts val="2250"/>
              </a:lnSpc>
              <a:buNone/>
            </a:pPr>
            <a:r>
              <a:rPr lang="en-US" sz="1400" dirty="0">
                <a:solidFill>
                  <a:srgbClr val="333F70"/>
                </a:solidFill>
                <a:latin typeface="Open Sans" pitchFamily="34" charset="0"/>
                <a:ea typeface="Open Sans" pitchFamily="34" charset="-122"/>
                <a:cs typeface="Open Sans" pitchFamily="34" charset="-120"/>
              </a:rPr>
              <a:t>+20</a:t>
            </a:r>
            <a:endParaRPr lang="en-US" sz="1400" dirty="0"/>
          </a:p>
        </p:txBody>
      </p:sp>
      <p:sp>
        <p:nvSpPr>
          <p:cNvPr id="34" name="Text 32"/>
          <p:cNvSpPr/>
          <p:nvPr/>
        </p:nvSpPr>
        <p:spPr>
          <a:xfrm>
            <a:off x="10757416" y="4781431"/>
            <a:ext cx="2890123" cy="290274"/>
          </a:xfrm>
          <a:prstGeom prst="rect">
            <a:avLst/>
          </a:prstGeom>
          <a:noFill/>
          <a:ln/>
        </p:spPr>
        <p:txBody>
          <a:bodyPr wrap="none" lIns="0" tIns="0" rIns="0" bIns="0" rtlCol="0" anchor="t"/>
          <a:lstStyle/>
          <a:p>
            <a:pPr algn="l" indent="0" marL="0">
              <a:lnSpc>
                <a:spcPts val="2250"/>
              </a:lnSpc>
              <a:buNone/>
            </a:pPr>
            <a:r>
              <a:rPr lang="en-US" sz="1400" b="1" dirty="0">
                <a:solidFill>
                  <a:srgbClr val="333F70"/>
                </a:solidFill>
                <a:latin typeface="Open Sans" pitchFamily="34" charset="0"/>
                <a:ea typeface="Open Sans" pitchFamily="34" charset="-122"/>
                <a:cs typeface="Open Sans" pitchFamily="34" charset="-120"/>
              </a:rPr>
              <a:t>400</a:t>
            </a:r>
            <a:endParaRPr lang="en-US" sz="1400" dirty="0"/>
          </a:p>
        </p:txBody>
      </p:sp>
      <p:pic>
        <p:nvPicPr>
          <p:cNvPr id="35" name="Image 0" descr="preencoded.png">    </p:cNvPr>
          <p:cNvPicPr>
            <a:picLocks noChangeAspect="1"/>
          </p:cNvPicPr>
          <p:nvPr/>
        </p:nvPicPr>
        <p:blipFill>
          <a:blip r:embed="rId1"/>
          <a:stretch>
            <a:fillRect/>
          </a:stretch>
        </p:blipFill>
        <p:spPr>
          <a:xfrm>
            <a:off x="793790" y="5399842"/>
            <a:ext cx="9980414" cy="379214"/>
          </a:xfrm>
          <a:prstGeom prst="rect">
            <a:avLst/>
          </a:prstGeom>
        </p:spPr>
      </p:pic>
      <p:pic>
        <p:nvPicPr>
          <p:cNvPr id="36" name="Image 1" descr="preencoded.png">    </p:cNvPr>
          <p:cNvPicPr>
            <a:picLocks noChangeAspect="1"/>
          </p:cNvPicPr>
          <p:nvPr/>
        </p:nvPicPr>
        <p:blipFill>
          <a:blip r:embed="rId2"/>
          <a:stretch>
            <a:fillRect/>
          </a:stretch>
        </p:blipFill>
        <p:spPr>
          <a:xfrm>
            <a:off x="793790" y="5983129"/>
            <a:ext cx="10434161" cy="250388"/>
          </a:xfrm>
          <a:prstGeom prst="rect">
            <a:avLst/>
          </a:prstGeom>
        </p:spPr>
      </p:pic>
      <p:sp>
        <p:nvSpPr>
          <p:cNvPr id="37" name="Shape 33"/>
          <p:cNvSpPr/>
          <p:nvPr/>
        </p:nvSpPr>
        <p:spPr>
          <a:xfrm>
            <a:off x="793790" y="6437590"/>
            <a:ext cx="13042821" cy="1061323"/>
          </a:xfrm>
          <a:prstGeom prst="roundRect">
            <a:avLst>
              <a:gd name="adj" fmla="val 7181"/>
            </a:avLst>
          </a:prstGeom>
          <a:solidFill>
            <a:srgbClr val="FFB3B4"/>
          </a:solidFill>
          <a:ln/>
        </p:spPr>
      </p:sp>
      <p:pic>
        <p:nvPicPr>
          <p:cNvPr id="38" name="Image 2" descr="preencoded.png">    </p:cNvPr>
          <p:cNvPicPr>
            <a:picLocks noChangeAspect="1"/>
          </p:cNvPicPr>
          <p:nvPr/>
        </p:nvPicPr>
        <p:blipFill>
          <a:blip r:embed="rId3"/>
          <a:stretch>
            <a:fillRect/>
          </a:stretch>
        </p:blipFill>
        <p:spPr>
          <a:xfrm>
            <a:off x="975241" y="6718935"/>
            <a:ext cx="226814" cy="181451"/>
          </a:xfrm>
          <a:prstGeom prst="rect">
            <a:avLst/>
          </a:prstGeom>
        </p:spPr>
      </p:pic>
      <p:sp>
        <p:nvSpPr>
          <p:cNvPr id="39" name="Text 34"/>
          <p:cNvSpPr/>
          <p:nvPr/>
        </p:nvSpPr>
        <p:spPr>
          <a:xfrm>
            <a:off x="1383506" y="6664404"/>
            <a:ext cx="12271653" cy="580549"/>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Open Sans" pitchFamily="34" charset="0"/>
                <a:ea typeface="Open Sans" pitchFamily="34" charset="-122"/>
                <a:cs typeface="Open Sans" pitchFamily="34" charset="-120"/>
              </a:rPr>
              <a:t>The impact of the single large error is dramatically amplified due to the squaring term. The MSE jumps from 1 to 80.8, and RMSE increases from 1 to approximately 8.98, demonstrating how MSE/RMSE heavily penalize significant deviations.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62821"/>
            <a:ext cx="7024807" cy="538758"/>
          </a:xfrm>
          <a:prstGeom prst="rect">
            <a:avLst/>
          </a:prstGeom>
          <a:noFill/>
          <a:ln/>
        </p:spPr>
        <p:txBody>
          <a:bodyPr wrap="none" lIns="0" tIns="0" rIns="0" bIns="0" rtlCol="0" anchor="t"/>
          <a:lstStyle/>
          <a:p>
            <a:pPr algn="l" indent="0" marL="0">
              <a:lnSpc>
                <a:spcPts val="4200"/>
              </a:lnSpc>
              <a:buNone/>
            </a:pPr>
            <a:r>
              <a:rPr lang="en-US" sz="3350" b="1" dirty="0">
                <a:solidFill>
                  <a:srgbClr val="333F70"/>
                </a:solidFill>
                <a:latin typeface="Unbounded Bold" pitchFamily="34" charset="0"/>
                <a:ea typeface="Unbounded Bold" pitchFamily="34" charset="-122"/>
                <a:cs typeface="Unbounded Bold" pitchFamily="34" charset="-120"/>
              </a:rPr>
              <a:t>Why This Penalty Matters</a:t>
            </a:r>
            <a:endParaRPr lang="en-US" sz="3350" dirty="0"/>
          </a:p>
        </p:txBody>
      </p:sp>
      <p:sp>
        <p:nvSpPr>
          <p:cNvPr id="3" name="Text 1"/>
          <p:cNvSpPr/>
          <p:nvPr/>
        </p:nvSpPr>
        <p:spPr>
          <a:xfrm>
            <a:off x="793790" y="1443990"/>
            <a:ext cx="13042821" cy="344805"/>
          </a:xfrm>
          <a:prstGeom prst="rect">
            <a:avLst/>
          </a:prstGeom>
          <a:noFill/>
          <a:ln/>
        </p:spPr>
        <p:txBody>
          <a:bodyPr wrap="non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The inherent penalty for large errors in MSE and RMSE serves a critical purpose in model evaluation and development.</a:t>
            </a:r>
            <a:endParaRPr lang="en-US" sz="1650" dirty="0"/>
          </a:p>
        </p:txBody>
      </p:sp>
      <p:sp>
        <p:nvSpPr>
          <p:cNvPr id="4" name="Shape 2"/>
          <p:cNvSpPr/>
          <p:nvPr/>
        </p:nvSpPr>
        <p:spPr>
          <a:xfrm>
            <a:off x="793790" y="2354342"/>
            <a:ext cx="4203978" cy="4625221"/>
          </a:xfrm>
          <a:prstGeom prst="roundRect">
            <a:avLst>
              <a:gd name="adj" fmla="val 3480"/>
            </a:avLst>
          </a:prstGeom>
          <a:solidFill>
            <a:srgbClr val="FFFFFF"/>
          </a:solidFill>
          <a:ln/>
        </p:spPr>
      </p:sp>
      <p:sp>
        <p:nvSpPr>
          <p:cNvPr id="5" name="Shape 3"/>
          <p:cNvSpPr/>
          <p:nvPr/>
        </p:nvSpPr>
        <p:spPr>
          <a:xfrm>
            <a:off x="793790" y="2323862"/>
            <a:ext cx="4203978" cy="121920"/>
          </a:xfrm>
          <a:prstGeom prst="roundRect">
            <a:avLst>
              <a:gd name="adj" fmla="val 74233"/>
            </a:avLst>
          </a:prstGeom>
          <a:solidFill>
            <a:srgbClr val="26A688"/>
          </a:solidFill>
          <a:ln/>
        </p:spPr>
      </p:sp>
      <p:sp>
        <p:nvSpPr>
          <p:cNvPr id="6" name="Shape 4"/>
          <p:cNvSpPr/>
          <p:nvPr/>
        </p:nvSpPr>
        <p:spPr>
          <a:xfrm>
            <a:off x="2572524" y="2031206"/>
            <a:ext cx="646390" cy="646390"/>
          </a:xfrm>
          <a:prstGeom prst="roundRect">
            <a:avLst>
              <a:gd name="adj" fmla="val 141463"/>
            </a:avLst>
          </a:prstGeom>
          <a:solidFill>
            <a:srgbClr val="26A688"/>
          </a:solidFill>
          <a:ln/>
        </p:spPr>
      </p:sp>
      <p:sp>
        <p:nvSpPr>
          <p:cNvPr id="7" name="Text 5"/>
          <p:cNvSpPr/>
          <p:nvPr/>
        </p:nvSpPr>
        <p:spPr>
          <a:xfrm>
            <a:off x="2766477" y="2192774"/>
            <a:ext cx="258485" cy="323136"/>
          </a:xfrm>
          <a:prstGeom prst="rect">
            <a:avLst/>
          </a:prstGeom>
          <a:noFill/>
          <a:ln/>
        </p:spPr>
        <p:txBody>
          <a:bodyPr wrap="none" lIns="0" tIns="0" rIns="0" bIns="0" rtlCol="0" anchor="t"/>
          <a:lstStyle/>
          <a:p>
            <a:pPr algn="l" indent="0" marL="0">
              <a:lnSpc>
                <a:spcPts val="3250"/>
              </a:lnSpc>
              <a:buNone/>
            </a:pPr>
            <a:r>
              <a:rPr lang="en-US" sz="2000" b="1" dirty="0">
                <a:solidFill>
                  <a:srgbClr val="FFFFFF"/>
                </a:solidFill>
                <a:latin typeface="Unbounded Bold" pitchFamily="34" charset="0"/>
                <a:ea typeface="Unbounded Bold" pitchFamily="34" charset="-122"/>
                <a:cs typeface="Unbounded Bold" pitchFamily="34" charset="-120"/>
              </a:rPr>
              <a:t>1</a:t>
            </a:r>
            <a:endParaRPr lang="en-US" sz="2000" dirty="0"/>
          </a:p>
        </p:txBody>
      </p:sp>
      <p:sp>
        <p:nvSpPr>
          <p:cNvPr id="8" name="Text 6"/>
          <p:cNvSpPr/>
          <p:nvPr/>
        </p:nvSpPr>
        <p:spPr>
          <a:xfrm>
            <a:off x="1039654" y="2892981"/>
            <a:ext cx="3712250" cy="673179"/>
          </a:xfrm>
          <a:prstGeom prst="rect">
            <a:avLst/>
          </a:prstGeom>
          <a:noFill/>
          <a:ln/>
        </p:spPr>
        <p:txBody>
          <a:bodyPr wrap="squar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Prevents Costly Mistakes</a:t>
            </a:r>
            <a:endParaRPr lang="en-US" sz="2100" dirty="0"/>
          </a:p>
        </p:txBody>
      </p:sp>
      <p:sp>
        <p:nvSpPr>
          <p:cNvPr id="9" name="Text 7"/>
          <p:cNvSpPr/>
          <p:nvPr/>
        </p:nvSpPr>
        <p:spPr>
          <a:xfrm>
            <a:off x="1039654" y="3695343"/>
            <a:ext cx="3712250" cy="1724025"/>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Ensures models don't just perform well on average but actively avoid catastrophic individual errors that could have severe real-world consequences.</a:t>
            </a:r>
            <a:endParaRPr lang="en-US" sz="1650" dirty="0"/>
          </a:p>
        </p:txBody>
      </p:sp>
      <p:sp>
        <p:nvSpPr>
          <p:cNvPr id="10" name="Shape 8"/>
          <p:cNvSpPr/>
          <p:nvPr/>
        </p:nvSpPr>
        <p:spPr>
          <a:xfrm>
            <a:off x="5213152" y="2354342"/>
            <a:ext cx="4203978" cy="4625221"/>
          </a:xfrm>
          <a:prstGeom prst="roundRect">
            <a:avLst>
              <a:gd name="adj" fmla="val 3480"/>
            </a:avLst>
          </a:prstGeom>
          <a:solidFill>
            <a:srgbClr val="FFFFFF"/>
          </a:solidFill>
          <a:ln/>
        </p:spPr>
      </p:sp>
      <p:sp>
        <p:nvSpPr>
          <p:cNvPr id="11" name="Shape 9"/>
          <p:cNvSpPr/>
          <p:nvPr/>
        </p:nvSpPr>
        <p:spPr>
          <a:xfrm>
            <a:off x="5213152" y="2323862"/>
            <a:ext cx="4203978" cy="121920"/>
          </a:xfrm>
          <a:prstGeom prst="roundRect">
            <a:avLst>
              <a:gd name="adj" fmla="val 74233"/>
            </a:avLst>
          </a:prstGeom>
          <a:solidFill>
            <a:srgbClr val="26A688"/>
          </a:solidFill>
          <a:ln/>
        </p:spPr>
      </p:sp>
      <p:sp>
        <p:nvSpPr>
          <p:cNvPr id="12" name="Shape 10"/>
          <p:cNvSpPr/>
          <p:nvPr/>
        </p:nvSpPr>
        <p:spPr>
          <a:xfrm>
            <a:off x="6991886" y="2031206"/>
            <a:ext cx="646390" cy="646390"/>
          </a:xfrm>
          <a:prstGeom prst="roundRect">
            <a:avLst>
              <a:gd name="adj" fmla="val 141463"/>
            </a:avLst>
          </a:prstGeom>
          <a:solidFill>
            <a:srgbClr val="26A688"/>
          </a:solidFill>
          <a:ln/>
        </p:spPr>
      </p:sp>
      <p:sp>
        <p:nvSpPr>
          <p:cNvPr id="13" name="Text 11"/>
          <p:cNvSpPr/>
          <p:nvPr/>
        </p:nvSpPr>
        <p:spPr>
          <a:xfrm>
            <a:off x="7185839" y="2192774"/>
            <a:ext cx="258485" cy="323136"/>
          </a:xfrm>
          <a:prstGeom prst="rect">
            <a:avLst/>
          </a:prstGeom>
          <a:noFill/>
          <a:ln/>
        </p:spPr>
        <p:txBody>
          <a:bodyPr wrap="none" lIns="0" tIns="0" rIns="0" bIns="0" rtlCol="0" anchor="t"/>
          <a:lstStyle/>
          <a:p>
            <a:pPr algn="l" indent="0" marL="0">
              <a:lnSpc>
                <a:spcPts val="3250"/>
              </a:lnSpc>
              <a:buNone/>
            </a:pPr>
            <a:r>
              <a:rPr lang="en-US" sz="2000" b="1" dirty="0">
                <a:solidFill>
                  <a:srgbClr val="FFFFFF"/>
                </a:solidFill>
                <a:latin typeface="Unbounded Bold" pitchFamily="34" charset="0"/>
                <a:ea typeface="Unbounded Bold" pitchFamily="34" charset="-122"/>
                <a:cs typeface="Unbounded Bold" pitchFamily="34" charset="-120"/>
              </a:rPr>
              <a:t>2</a:t>
            </a:r>
            <a:endParaRPr lang="en-US" sz="2000" dirty="0"/>
          </a:p>
        </p:txBody>
      </p:sp>
      <p:sp>
        <p:nvSpPr>
          <p:cNvPr id="14" name="Text 12"/>
          <p:cNvSpPr/>
          <p:nvPr/>
        </p:nvSpPr>
        <p:spPr>
          <a:xfrm>
            <a:off x="5459016" y="2892981"/>
            <a:ext cx="3712250" cy="673179"/>
          </a:xfrm>
          <a:prstGeom prst="rect">
            <a:avLst/>
          </a:prstGeom>
          <a:noFill/>
          <a:ln/>
        </p:spPr>
        <p:txBody>
          <a:bodyPr wrap="squar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Encourages Accuracy</a:t>
            </a:r>
            <a:endParaRPr lang="en-US" sz="2100" dirty="0"/>
          </a:p>
        </p:txBody>
      </p:sp>
      <p:sp>
        <p:nvSpPr>
          <p:cNvPr id="15" name="Text 13"/>
          <p:cNvSpPr/>
          <p:nvPr/>
        </p:nvSpPr>
        <p:spPr>
          <a:xfrm>
            <a:off x="5459016" y="3695343"/>
            <a:ext cx="3712250" cy="1379220"/>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Drives models to be more precise across all predictions, as even a few large errors will significantly impact the overall performance score.</a:t>
            </a:r>
            <a:endParaRPr lang="en-US" sz="1650" dirty="0"/>
          </a:p>
        </p:txBody>
      </p:sp>
      <p:sp>
        <p:nvSpPr>
          <p:cNvPr id="16" name="Shape 14"/>
          <p:cNvSpPr/>
          <p:nvPr/>
        </p:nvSpPr>
        <p:spPr>
          <a:xfrm>
            <a:off x="9632513" y="2354342"/>
            <a:ext cx="4203978" cy="4625221"/>
          </a:xfrm>
          <a:prstGeom prst="roundRect">
            <a:avLst>
              <a:gd name="adj" fmla="val 3480"/>
            </a:avLst>
          </a:prstGeom>
          <a:solidFill>
            <a:srgbClr val="FFFFFF"/>
          </a:solidFill>
          <a:ln/>
        </p:spPr>
      </p:sp>
      <p:sp>
        <p:nvSpPr>
          <p:cNvPr id="17" name="Shape 15"/>
          <p:cNvSpPr/>
          <p:nvPr/>
        </p:nvSpPr>
        <p:spPr>
          <a:xfrm>
            <a:off x="9632513" y="2323862"/>
            <a:ext cx="4203978" cy="121920"/>
          </a:xfrm>
          <a:prstGeom prst="roundRect">
            <a:avLst>
              <a:gd name="adj" fmla="val 74233"/>
            </a:avLst>
          </a:prstGeom>
          <a:solidFill>
            <a:srgbClr val="26A688"/>
          </a:solidFill>
          <a:ln/>
        </p:spPr>
      </p:sp>
      <p:sp>
        <p:nvSpPr>
          <p:cNvPr id="18" name="Shape 16"/>
          <p:cNvSpPr/>
          <p:nvPr/>
        </p:nvSpPr>
        <p:spPr>
          <a:xfrm>
            <a:off x="11411248" y="2031206"/>
            <a:ext cx="646390" cy="646390"/>
          </a:xfrm>
          <a:prstGeom prst="roundRect">
            <a:avLst>
              <a:gd name="adj" fmla="val 141463"/>
            </a:avLst>
          </a:prstGeom>
          <a:solidFill>
            <a:srgbClr val="26A688"/>
          </a:solidFill>
          <a:ln/>
        </p:spPr>
      </p:sp>
      <p:sp>
        <p:nvSpPr>
          <p:cNvPr id="19" name="Text 17"/>
          <p:cNvSpPr/>
          <p:nvPr/>
        </p:nvSpPr>
        <p:spPr>
          <a:xfrm>
            <a:off x="11605200" y="2192774"/>
            <a:ext cx="258485" cy="323136"/>
          </a:xfrm>
          <a:prstGeom prst="rect">
            <a:avLst/>
          </a:prstGeom>
          <a:noFill/>
          <a:ln/>
        </p:spPr>
        <p:txBody>
          <a:bodyPr wrap="none" lIns="0" tIns="0" rIns="0" bIns="0" rtlCol="0" anchor="t"/>
          <a:lstStyle/>
          <a:p>
            <a:pPr algn="l" indent="0" marL="0">
              <a:lnSpc>
                <a:spcPts val="3250"/>
              </a:lnSpc>
              <a:buNone/>
            </a:pPr>
            <a:r>
              <a:rPr lang="en-US" sz="2000" b="1" dirty="0">
                <a:solidFill>
                  <a:srgbClr val="FFFFFF"/>
                </a:solidFill>
                <a:latin typeface="Unbounded Bold" pitchFamily="34" charset="0"/>
                <a:ea typeface="Unbounded Bold" pitchFamily="34" charset="-122"/>
                <a:cs typeface="Unbounded Bold" pitchFamily="34" charset="-120"/>
              </a:rPr>
              <a:t>3</a:t>
            </a:r>
            <a:endParaRPr lang="en-US" sz="2000" dirty="0"/>
          </a:p>
        </p:txBody>
      </p:sp>
      <p:sp>
        <p:nvSpPr>
          <p:cNvPr id="20" name="Text 18"/>
          <p:cNvSpPr/>
          <p:nvPr/>
        </p:nvSpPr>
        <p:spPr>
          <a:xfrm>
            <a:off x="9878378" y="2892981"/>
            <a:ext cx="3712250" cy="673179"/>
          </a:xfrm>
          <a:prstGeom prst="rect">
            <a:avLst/>
          </a:prstGeom>
          <a:noFill/>
          <a:ln/>
        </p:spPr>
        <p:txBody>
          <a:bodyPr wrap="squar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Critical in High-Stakes Fields</a:t>
            </a:r>
            <a:endParaRPr lang="en-US" sz="2100" dirty="0"/>
          </a:p>
        </p:txBody>
      </p:sp>
      <p:sp>
        <p:nvSpPr>
          <p:cNvPr id="21" name="Text 19"/>
          <p:cNvSpPr/>
          <p:nvPr/>
        </p:nvSpPr>
        <p:spPr>
          <a:xfrm>
            <a:off x="9878378" y="3695343"/>
            <a:ext cx="3712250" cy="689610"/>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Essential when large prediction errors can lead to:</a:t>
            </a:r>
            <a:endParaRPr lang="en-US" sz="1650" dirty="0"/>
          </a:p>
        </p:txBody>
      </p:sp>
      <p:sp>
        <p:nvSpPr>
          <p:cNvPr id="22" name="Text 20"/>
          <p:cNvSpPr/>
          <p:nvPr/>
        </p:nvSpPr>
        <p:spPr>
          <a:xfrm>
            <a:off x="9878378" y="4514136"/>
            <a:ext cx="3712250" cy="689610"/>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333F70"/>
                </a:solidFill>
                <a:latin typeface="Open Sans" pitchFamily="34" charset="0"/>
                <a:ea typeface="Open Sans" pitchFamily="34" charset="-122"/>
                <a:cs typeface="Open Sans" pitchFamily="34" charset="-120"/>
              </a:rPr>
              <a:t>Financial Loss:</a:t>
            </a:r>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 Inaccurate stock market predictions</a:t>
            </a:r>
            <a:endParaRPr lang="en-US" sz="1650" dirty="0"/>
          </a:p>
        </p:txBody>
      </p:sp>
      <p:sp>
        <p:nvSpPr>
          <p:cNvPr id="23" name="Text 21"/>
          <p:cNvSpPr/>
          <p:nvPr/>
        </p:nvSpPr>
        <p:spPr>
          <a:xfrm>
            <a:off x="9878378" y="5279112"/>
            <a:ext cx="3712250" cy="689610"/>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333F70"/>
                </a:solidFill>
                <a:latin typeface="Open Sans" pitchFamily="34" charset="0"/>
                <a:ea typeface="Open Sans" pitchFamily="34" charset="-122"/>
                <a:cs typeface="Open Sans" pitchFamily="34" charset="-120"/>
              </a:rPr>
              <a:t>Safety Issues:</a:t>
            </a:r>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 Misjudging critical engineering parameters</a:t>
            </a:r>
            <a:endParaRPr lang="en-US" sz="1650" dirty="0"/>
          </a:p>
        </p:txBody>
      </p:sp>
      <p:sp>
        <p:nvSpPr>
          <p:cNvPr id="24" name="Text 22"/>
          <p:cNvSpPr/>
          <p:nvPr/>
        </p:nvSpPr>
        <p:spPr>
          <a:xfrm>
            <a:off x="9878378" y="6044089"/>
            <a:ext cx="3712250" cy="689610"/>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333F70"/>
                </a:solidFill>
                <a:latin typeface="Open Sans" pitchFamily="34" charset="0"/>
                <a:ea typeface="Open Sans" pitchFamily="34" charset="-122"/>
                <a:cs typeface="Open Sans" pitchFamily="34" charset="-120"/>
              </a:rPr>
              <a:t>Poor User Experience:</a:t>
            </a:r>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 Highly delayed delivery estimates</a:t>
            </a:r>
            <a:endParaRPr lang="en-US" sz="1650" dirty="0"/>
          </a:p>
        </p:txBody>
      </p:sp>
      <p:sp>
        <p:nvSpPr>
          <p:cNvPr id="25" name="Text 23"/>
          <p:cNvSpPr/>
          <p:nvPr/>
        </p:nvSpPr>
        <p:spPr>
          <a:xfrm>
            <a:off x="793790" y="7221974"/>
            <a:ext cx="13042821" cy="344805"/>
          </a:xfrm>
          <a:prstGeom prst="rect">
            <a:avLst/>
          </a:prstGeom>
          <a:noFill/>
          <a:ln/>
        </p:spPr>
        <p:txBody>
          <a:bodyPr wrap="non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By heavily weighting larger discrepancies, MSE and RMSE guide models toward minimizing the most impactful errors.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22722"/>
            <a:ext cx="10039707" cy="673418"/>
          </a:xfrm>
          <a:prstGeom prst="rect">
            <a:avLst/>
          </a:prstGeom>
          <a:noFill/>
          <a:ln/>
        </p:spPr>
        <p:txBody>
          <a:bodyPr wrap="none" lIns="0" tIns="0" rIns="0" bIns="0" rtlCol="0" anchor="t"/>
          <a:lstStyle/>
          <a:p>
            <a:pPr algn="l" indent="0" marL="0">
              <a:lnSpc>
                <a:spcPts val="5300"/>
              </a:lnSpc>
              <a:buNone/>
            </a:pPr>
            <a:r>
              <a:rPr lang="en-US" sz="4200" b="1" dirty="0">
                <a:solidFill>
                  <a:srgbClr val="333F70"/>
                </a:solidFill>
                <a:latin typeface="Unbounded Bold" pitchFamily="34" charset="0"/>
                <a:ea typeface="Unbounded Bold" pitchFamily="34" charset="-122"/>
                <a:cs typeface="Unbounded Bold" pitchFamily="34" charset="-120"/>
              </a:rPr>
              <a:t>Limitations of MSE and RMSE</a:t>
            </a:r>
            <a:endParaRPr lang="en-US" sz="4200" dirty="0"/>
          </a:p>
        </p:txBody>
      </p:sp>
      <p:sp>
        <p:nvSpPr>
          <p:cNvPr id="3" name="Text 1"/>
          <p:cNvSpPr/>
          <p:nvPr/>
        </p:nvSpPr>
        <p:spPr>
          <a:xfrm>
            <a:off x="793790" y="1819275"/>
            <a:ext cx="13042821" cy="344805"/>
          </a:xfrm>
          <a:prstGeom prst="rect">
            <a:avLst/>
          </a:prstGeom>
          <a:noFill/>
          <a:ln/>
        </p:spPr>
        <p:txBody>
          <a:bodyPr wrap="non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While powerful, MSE and RMSE have certain drawbacks that data scientists must consider when selecting evaluation metrics.</a:t>
            </a:r>
            <a:endParaRPr lang="en-US" sz="1650" dirty="0"/>
          </a:p>
        </p:txBody>
      </p:sp>
      <p:sp>
        <p:nvSpPr>
          <p:cNvPr id="4" name="Shape 2"/>
          <p:cNvSpPr/>
          <p:nvPr/>
        </p:nvSpPr>
        <p:spPr>
          <a:xfrm>
            <a:off x="793790" y="2406491"/>
            <a:ext cx="4203978" cy="3497580"/>
          </a:xfrm>
          <a:prstGeom prst="roundRect">
            <a:avLst>
              <a:gd name="adj" fmla="val 2588"/>
            </a:avLst>
          </a:prstGeom>
          <a:solidFill>
            <a:srgbClr val="D6F5EE"/>
          </a:solidFill>
          <a:ln w="7620">
            <a:solidFill>
              <a:srgbClr val="BCDBD4"/>
            </a:solidFill>
            <a:prstDash val="solid"/>
          </a:ln>
        </p:spPr>
      </p:sp>
      <p:sp>
        <p:nvSpPr>
          <p:cNvPr id="5" name="Shape 3"/>
          <p:cNvSpPr/>
          <p:nvPr/>
        </p:nvSpPr>
        <p:spPr>
          <a:xfrm>
            <a:off x="1016794" y="2629495"/>
            <a:ext cx="646390" cy="646390"/>
          </a:xfrm>
          <a:prstGeom prst="roundRect">
            <a:avLst>
              <a:gd name="adj" fmla="val 14144844"/>
            </a:avLst>
          </a:prstGeom>
          <a:solidFill>
            <a:srgbClr val="26A688"/>
          </a:solidFill>
          <a:ln/>
        </p:spPr>
      </p:sp>
      <p:pic>
        <p:nvPicPr>
          <p:cNvPr id="6" name="Image 0" descr="preencoded.png">    </p:cNvPr>
          <p:cNvPicPr>
            <a:picLocks noChangeAspect="1"/>
          </p:cNvPicPr>
          <p:nvPr/>
        </p:nvPicPr>
        <p:blipFill>
          <a:blip r:embed="rId1"/>
          <a:stretch>
            <a:fillRect/>
          </a:stretch>
        </p:blipFill>
        <p:spPr>
          <a:xfrm>
            <a:off x="1194554" y="2770823"/>
            <a:ext cx="290870" cy="363617"/>
          </a:xfrm>
          <a:prstGeom prst="rect">
            <a:avLst/>
          </a:prstGeom>
        </p:spPr>
      </p:pic>
      <p:sp>
        <p:nvSpPr>
          <p:cNvPr id="7" name="Text 4"/>
          <p:cNvSpPr/>
          <p:nvPr/>
        </p:nvSpPr>
        <p:spPr>
          <a:xfrm>
            <a:off x="1016794" y="3491270"/>
            <a:ext cx="3407807" cy="336590"/>
          </a:xfrm>
          <a:prstGeom prst="rect">
            <a:avLst/>
          </a:prstGeom>
          <a:noFill/>
          <a:ln/>
        </p:spPr>
        <p:txBody>
          <a:bodyPr wrap="non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Sensitive to Outliers</a:t>
            </a:r>
            <a:endParaRPr lang="en-US" sz="2100" dirty="0"/>
          </a:p>
        </p:txBody>
      </p:sp>
      <p:sp>
        <p:nvSpPr>
          <p:cNvPr id="8" name="Text 5"/>
          <p:cNvSpPr/>
          <p:nvPr/>
        </p:nvSpPr>
        <p:spPr>
          <a:xfrm>
            <a:off x="1016794" y="3957042"/>
            <a:ext cx="3757970" cy="1724025"/>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A single extreme prediction can drastically inflate MSE/RMSE, potentially misrepresenting overall model performance and masking consistent accuracy.</a:t>
            </a:r>
            <a:endParaRPr lang="en-US" sz="1650" dirty="0"/>
          </a:p>
        </p:txBody>
      </p:sp>
      <p:sp>
        <p:nvSpPr>
          <p:cNvPr id="9" name="Shape 6"/>
          <p:cNvSpPr/>
          <p:nvPr/>
        </p:nvSpPr>
        <p:spPr>
          <a:xfrm>
            <a:off x="5213152" y="2406491"/>
            <a:ext cx="4203978" cy="3497580"/>
          </a:xfrm>
          <a:prstGeom prst="roundRect">
            <a:avLst>
              <a:gd name="adj" fmla="val 2588"/>
            </a:avLst>
          </a:prstGeom>
          <a:solidFill>
            <a:srgbClr val="D6F5EE"/>
          </a:solidFill>
          <a:ln w="7620">
            <a:solidFill>
              <a:srgbClr val="BCDBD4"/>
            </a:solidFill>
            <a:prstDash val="solid"/>
          </a:ln>
        </p:spPr>
      </p:sp>
      <p:sp>
        <p:nvSpPr>
          <p:cNvPr id="10" name="Shape 7"/>
          <p:cNvSpPr/>
          <p:nvPr/>
        </p:nvSpPr>
        <p:spPr>
          <a:xfrm>
            <a:off x="5436156" y="2629495"/>
            <a:ext cx="646390" cy="646390"/>
          </a:xfrm>
          <a:prstGeom prst="roundRect">
            <a:avLst>
              <a:gd name="adj" fmla="val 14144844"/>
            </a:avLst>
          </a:prstGeom>
          <a:solidFill>
            <a:srgbClr val="26A688"/>
          </a:solidFill>
          <a:ln/>
        </p:spPr>
      </p:sp>
      <p:pic>
        <p:nvPicPr>
          <p:cNvPr id="11" name="Image 1" descr="preencoded.png">    </p:cNvPr>
          <p:cNvPicPr>
            <a:picLocks noChangeAspect="1"/>
          </p:cNvPicPr>
          <p:nvPr/>
        </p:nvPicPr>
        <p:blipFill>
          <a:blip r:embed="rId2"/>
          <a:stretch>
            <a:fillRect/>
          </a:stretch>
        </p:blipFill>
        <p:spPr>
          <a:xfrm>
            <a:off x="5613916" y="2770823"/>
            <a:ext cx="290870" cy="363617"/>
          </a:xfrm>
          <a:prstGeom prst="rect">
            <a:avLst/>
          </a:prstGeom>
        </p:spPr>
      </p:pic>
      <p:sp>
        <p:nvSpPr>
          <p:cNvPr id="12" name="Text 8"/>
          <p:cNvSpPr/>
          <p:nvPr/>
        </p:nvSpPr>
        <p:spPr>
          <a:xfrm>
            <a:off x="5436156" y="3491270"/>
            <a:ext cx="3004304" cy="336590"/>
          </a:xfrm>
          <a:prstGeom prst="rect">
            <a:avLst/>
          </a:prstGeom>
          <a:noFill/>
          <a:ln/>
        </p:spPr>
        <p:txBody>
          <a:bodyPr wrap="non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MSE Unit Problem</a:t>
            </a:r>
            <a:endParaRPr lang="en-US" sz="2100" dirty="0"/>
          </a:p>
        </p:txBody>
      </p:sp>
      <p:sp>
        <p:nvSpPr>
          <p:cNvPr id="13" name="Text 9"/>
          <p:cNvSpPr/>
          <p:nvPr/>
        </p:nvSpPr>
        <p:spPr>
          <a:xfrm>
            <a:off x="5436156" y="3957042"/>
            <a:ext cx="3757970" cy="1379220"/>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MSE is in "squared units" (e.g., "dollars squared"), making it less intuitive to interpret compared to the original data units.</a:t>
            </a:r>
            <a:endParaRPr lang="en-US" sz="1650" dirty="0"/>
          </a:p>
        </p:txBody>
      </p:sp>
      <p:sp>
        <p:nvSpPr>
          <p:cNvPr id="14" name="Shape 10"/>
          <p:cNvSpPr/>
          <p:nvPr/>
        </p:nvSpPr>
        <p:spPr>
          <a:xfrm>
            <a:off x="9632513" y="2406491"/>
            <a:ext cx="4203978" cy="3497580"/>
          </a:xfrm>
          <a:prstGeom prst="roundRect">
            <a:avLst>
              <a:gd name="adj" fmla="val 2588"/>
            </a:avLst>
          </a:prstGeom>
          <a:solidFill>
            <a:srgbClr val="D6F5EE"/>
          </a:solidFill>
          <a:ln w="7620">
            <a:solidFill>
              <a:srgbClr val="BCDBD4"/>
            </a:solidFill>
            <a:prstDash val="solid"/>
          </a:ln>
        </p:spPr>
      </p:sp>
      <p:sp>
        <p:nvSpPr>
          <p:cNvPr id="15" name="Shape 11"/>
          <p:cNvSpPr/>
          <p:nvPr/>
        </p:nvSpPr>
        <p:spPr>
          <a:xfrm>
            <a:off x="9855518" y="2629495"/>
            <a:ext cx="646390" cy="646390"/>
          </a:xfrm>
          <a:prstGeom prst="roundRect">
            <a:avLst>
              <a:gd name="adj" fmla="val 14144844"/>
            </a:avLst>
          </a:prstGeom>
          <a:solidFill>
            <a:srgbClr val="26A688"/>
          </a:solidFill>
          <a:ln/>
        </p:spPr>
      </p:sp>
      <p:pic>
        <p:nvPicPr>
          <p:cNvPr id="16" name="Image 2" descr="preencoded.png">    </p:cNvPr>
          <p:cNvPicPr>
            <a:picLocks noChangeAspect="1"/>
          </p:cNvPicPr>
          <p:nvPr/>
        </p:nvPicPr>
        <p:blipFill>
          <a:blip r:embed="rId3"/>
          <a:stretch>
            <a:fillRect/>
          </a:stretch>
        </p:blipFill>
        <p:spPr>
          <a:xfrm>
            <a:off x="10033278" y="2770823"/>
            <a:ext cx="290870" cy="363617"/>
          </a:xfrm>
          <a:prstGeom prst="rect">
            <a:avLst/>
          </a:prstGeom>
        </p:spPr>
      </p:pic>
      <p:sp>
        <p:nvSpPr>
          <p:cNvPr id="17" name="Text 12"/>
          <p:cNvSpPr/>
          <p:nvPr/>
        </p:nvSpPr>
        <p:spPr>
          <a:xfrm>
            <a:off x="9855518" y="3491270"/>
            <a:ext cx="3016925" cy="336590"/>
          </a:xfrm>
          <a:prstGeom prst="rect">
            <a:avLst/>
          </a:prstGeom>
          <a:noFill/>
          <a:ln/>
        </p:spPr>
        <p:txBody>
          <a:bodyPr wrap="none" lIns="0" tIns="0" rIns="0" bIns="0" rtlCol="0" anchor="t"/>
          <a:lstStyle/>
          <a:p>
            <a:pPr algn="l" indent="0" marL="0">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No Error Direction</a:t>
            </a:r>
            <a:endParaRPr lang="en-US" sz="2100" dirty="0"/>
          </a:p>
        </p:txBody>
      </p:sp>
      <p:sp>
        <p:nvSpPr>
          <p:cNvPr id="18" name="Text 13"/>
          <p:cNvSpPr/>
          <p:nvPr/>
        </p:nvSpPr>
        <p:spPr>
          <a:xfrm>
            <a:off x="9855518" y="3957042"/>
            <a:ext cx="3757970" cy="1379220"/>
          </a:xfrm>
          <a:prstGeom prst="rect">
            <a:avLst/>
          </a:prstGeom>
          <a:noFill/>
          <a:ln/>
        </p:spPr>
        <p:txBody>
          <a:bodyPr wrap="square" lIns="0" tIns="0" rIns="0" bIns="0" rtlCol="0" anchor="t"/>
          <a:lstStyle/>
          <a:p>
            <a:pPr algn="l" indent="0" marL="0">
              <a:lnSpc>
                <a:spcPts val="2700"/>
              </a:lnSpc>
              <a:buNone/>
            </a:pPr>
            <a:r>
              <a:rPr lang="en-US" sz="1650" dirty="0">
                <a:solidFill>
                  <a:srgbClr val="333F70"/>
                </a:solidFill>
                <a:latin typeface="Open Sans" pitchFamily="34" charset="0"/>
                <a:ea typeface="Open Sans" pitchFamily="34" charset="-122"/>
                <a:cs typeface="Open Sans" pitchFamily="34" charset="-120"/>
              </a:rPr>
              <a:t>Neither metric indicates whether the model consistently over-predicts or under-predicts the actual values, losing directional bias information.</a:t>
            </a:r>
            <a:endParaRPr lang="en-US" sz="1650" dirty="0"/>
          </a:p>
        </p:txBody>
      </p:sp>
      <p:sp>
        <p:nvSpPr>
          <p:cNvPr id="19" name="Shape 14"/>
          <p:cNvSpPr/>
          <p:nvPr/>
        </p:nvSpPr>
        <p:spPr>
          <a:xfrm>
            <a:off x="793790" y="6146483"/>
            <a:ext cx="13042821" cy="1260277"/>
          </a:xfrm>
          <a:prstGeom prst="roundRect">
            <a:avLst>
              <a:gd name="adj" fmla="val 7181"/>
            </a:avLst>
          </a:prstGeom>
          <a:solidFill>
            <a:srgbClr val="DDF8F2"/>
          </a:solidFill>
          <a:ln/>
        </p:spPr>
      </p:sp>
      <p:pic>
        <p:nvPicPr>
          <p:cNvPr id="20" name="Image 3" descr="preencoded.png">    </p:cNvPr>
          <p:cNvPicPr>
            <a:picLocks noChangeAspect="1"/>
          </p:cNvPicPr>
          <p:nvPr/>
        </p:nvPicPr>
        <p:blipFill>
          <a:blip r:embed="rId4"/>
          <a:stretch>
            <a:fillRect/>
          </a:stretch>
        </p:blipFill>
        <p:spPr>
          <a:xfrm>
            <a:off x="1009174" y="6478667"/>
            <a:ext cx="269319" cy="215384"/>
          </a:xfrm>
          <a:prstGeom prst="rect">
            <a:avLst/>
          </a:prstGeom>
        </p:spPr>
      </p:pic>
      <p:sp>
        <p:nvSpPr>
          <p:cNvPr id="21" name="Text 15"/>
          <p:cNvSpPr/>
          <p:nvPr/>
        </p:nvSpPr>
        <p:spPr>
          <a:xfrm>
            <a:off x="1493877" y="6415683"/>
            <a:ext cx="12127349" cy="68961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Understanding these limitations is crucial for choosing the right evaluation metric and interpreting model results accurately in different contexts.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02362"/>
            <a:ext cx="10637044" cy="566976"/>
          </a:xfrm>
          <a:prstGeom prst="rect">
            <a:avLst/>
          </a:prstGeom>
          <a:noFill/>
          <a:ln/>
        </p:spPr>
        <p:txBody>
          <a:bodyPr wrap="none" lIns="0" tIns="0" rIns="0" bIns="0" rtlCol="0" anchor="t"/>
          <a:lstStyle/>
          <a:p>
            <a:pPr algn="l" indent="0" marL="0">
              <a:lnSpc>
                <a:spcPts val="4450"/>
              </a:lnSpc>
              <a:buNone/>
            </a:pPr>
            <a:r>
              <a:rPr lang="en-US" sz="3550" b="1" dirty="0">
                <a:solidFill>
                  <a:srgbClr val="333F70"/>
                </a:solidFill>
                <a:latin typeface="Unbounded Bold" pitchFamily="34" charset="0"/>
                <a:ea typeface="Unbounded Bold" pitchFamily="34" charset="-122"/>
                <a:cs typeface="Unbounded Bold" pitchFamily="34" charset="-120"/>
              </a:rPr>
              <a:t>Real-World Impact: Food Delivery App</a:t>
            </a:r>
            <a:endParaRPr lang="en-US" sz="3550" dirty="0"/>
          </a:p>
        </p:txBody>
      </p:sp>
      <p:sp>
        <p:nvSpPr>
          <p:cNvPr id="3" name="Text 1"/>
          <p:cNvSpPr/>
          <p:nvPr/>
        </p:nvSpPr>
        <p:spPr>
          <a:xfrm>
            <a:off x="793790" y="162448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Consider a food delivery application where accurate delivery time prediction is crucial for customer satisfaction and business success.</a:t>
            </a:r>
            <a:endParaRPr lang="en-US" sz="1750" dirty="0"/>
          </a:p>
        </p:txBody>
      </p:sp>
      <p:sp>
        <p:nvSpPr>
          <p:cNvPr id="4" name="Shape 2"/>
          <p:cNvSpPr/>
          <p:nvPr/>
        </p:nvSpPr>
        <p:spPr>
          <a:xfrm>
            <a:off x="793790" y="2605445"/>
            <a:ext cx="30480" cy="4821793"/>
          </a:xfrm>
          <a:prstGeom prst="roundRect">
            <a:avLst>
              <a:gd name="adj" fmla="val 312558"/>
            </a:avLst>
          </a:prstGeom>
          <a:solidFill>
            <a:srgbClr val="BCDBD4"/>
          </a:solidFill>
          <a:ln/>
        </p:spPr>
      </p:sp>
      <p:sp>
        <p:nvSpPr>
          <p:cNvPr id="5" name="Shape 3"/>
          <p:cNvSpPr/>
          <p:nvPr/>
        </p:nvSpPr>
        <p:spPr>
          <a:xfrm>
            <a:off x="824270" y="2605445"/>
            <a:ext cx="13042821" cy="2184083"/>
          </a:xfrm>
          <a:prstGeom prst="rect">
            <a:avLst/>
          </a:prstGeom>
          <a:solidFill>
            <a:srgbClr val="D6F5EE"/>
          </a:solidFill>
          <a:ln w="7620">
            <a:solidFill>
              <a:srgbClr val="BCDBD4"/>
            </a:solidFill>
            <a:prstDash val="solid"/>
          </a:ln>
        </p:spPr>
      </p:sp>
      <p:sp>
        <p:nvSpPr>
          <p:cNvPr id="6" name="Text 4"/>
          <p:cNvSpPr/>
          <p:nvPr/>
        </p:nvSpPr>
        <p:spPr>
          <a:xfrm>
            <a:off x="1051084" y="2839879"/>
            <a:ext cx="4591526"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Model Prediction 1: 32 min</a:t>
            </a:r>
            <a:endParaRPr lang="en-US" sz="2200" dirty="0"/>
          </a:p>
        </p:txBody>
      </p:sp>
      <p:sp>
        <p:nvSpPr>
          <p:cNvPr id="7" name="Text 5"/>
          <p:cNvSpPr/>
          <p:nvPr/>
        </p:nvSpPr>
        <p:spPr>
          <a:xfrm>
            <a:off x="1051084" y="3330297"/>
            <a:ext cx="12581573" cy="725805"/>
          </a:xfrm>
          <a:prstGeom prst="rect">
            <a:avLst/>
          </a:prstGeom>
          <a:noFill/>
          <a:ln/>
        </p:spPr>
        <p:txBody>
          <a:bodyPr wrap="square" lIns="0" tIns="0" rIns="0" bIns="0" rtlCol="0" anchor="t"/>
          <a:lstStyle/>
          <a:p>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Error:</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+2 min</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Error²:</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4 (tolerable)</a:t>
            </a:r>
            <a:endParaRPr lang="en-US" sz="1750" dirty="0"/>
          </a:p>
        </p:txBody>
      </p:sp>
      <p:sp>
        <p:nvSpPr>
          <p:cNvPr id="8" name="Text 6"/>
          <p:cNvSpPr/>
          <p:nvPr/>
        </p:nvSpPr>
        <p:spPr>
          <a:xfrm>
            <a:off x="1051084" y="4192191"/>
            <a:ext cx="12581573"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 2-minute error might be acceptable to customers and unlikely to cause significant dissatisfaction.</a:t>
            </a:r>
            <a:endParaRPr lang="en-US" sz="1750" dirty="0"/>
          </a:p>
        </p:txBody>
      </p:sp>
      <p:sp>
        <p:nvSpPr>
          <p:cNvPr id="9" name="Shape 7"/>
          <p:cNvSpPr/>
          <p:nvPr/>
        </p:nvSpPr>
        <p:spPr>
          <a:xfrm>
            <a:off x="824270" y="5243155"/>
            <a:ext cx="13042821" cy="2184083"/>
          </a:xfrm>
          <a:prstGeom prst="rect">
            <a:avLst/>
          </a:prstGeom>
          <a:solidFill>
            <a:srgbClr val="D6F5EE"/>
          </a:solidFill>
          <a:ln w="7620">
            <a:solidFill>
              <a:srgbClr val="BCDBD4"/>
            </a:solidFill>
            <a:prstDash val="solid"/>
          </a:ln>
        </p:spPr>
      </p:sp>
      <p:sp>
        <p:nvSpPr>
          <p:cNvPr id="10" name="Text 8"/>
          <p:cNvSpPr/>
          <p:nvPr/>
        </p:nvSpPr>
        <p:spPr>
          <a:xfrm>
            <a:off x="1051084" y="5477589"/>
            <a:ext cx="4711303"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Model Prediction 2: 60 min</a:t>
            </a:r>
            <a:endParaRPr lang="en-US" sz="2200" dirty="0"/>
          </a:p>
        </p:txBody>
      </p:sp>
      <p:sp>
        <p:nvSpPr>
          <p:cNvPr id="11" name="Text 9"/>
          <p:cNvSpPr/>
          <p:nvPr/>
        </p:nvSpPr>
        <p:spPr>
          <a:xfrm>
            <a:off x="1051084" y="5968008"/>
            <a:ext cx="12581573" cy="725805"/>
          </a:xfrm>
          <a:prstGeom prst="rect">
            <a:avLst/>
          </a:prstGeom>
          <a:noFill/>
          <a:ln/>
        </p:spPr>
        <p:txBody>
          <a:bodyPr wrap="square" lIns="0" tIns="0" rIns="0" bIns="0" rtlCol="0" anchor="t"/>
          <a:lstStyle/>
          <a:p>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Error:</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+30 min</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Error²:</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900 (highly penalized)</a:t>
            </a:r>
            <a:endParaRPr lang="en-US" sz="1750" dirty="0"/>
          </a:p>
        </p:txBody>
      </p:sp>
      <p:sp>
        <p:nvSpPr>
          <p:cNvPr id="12" name="Text 10"/>
          <p:cNvSpPr/>
          <p:nvPr/>
        </p:nvSpPr>
        <p:spPr>
          <a:xfrm>
            <a:off x="1051084" y="6829901"/>
            <a:ext cx="12581573"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 30-minute overestimation leads to customer frustration, negative reviews, and potential order cancellations.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909888"/>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Conclusion</a:t>
            </a:r>
            <a:endParaRPr lang="en-US" sz="4450" dirty="0"/>
          </a:p>
        </p:txBody>
      </p:sp>
      <p:sp>
        <p:nvSpPr>
          <p:cNvPr id="3" name="Text 1"/>
          <p:cNvSpPr/>
          <p:nvPr/>
        </p:nvSpPr>
        <p:spPr>
          <a:xfrm>
            <a:off x="793790" y="4072295"/>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MSE and RMSE help models stay accurate by punishing big mistakes more than small ones.</a:t>
            </a:r>
            <a:endParaRPr lang="en-US" sz="1750" dirty="0"/>
          </a:p>
        </p:txBody>
      </p:sp>
      <p:sp>
        <p:nvSpPr>
          <p:cNvPr id="4" name="Text 2"/>
          <p:cNvSpPr/>
          <p:nvPr/>
        </p:nvSpPr>
        <p:spPr>
          <a:xfrm>
            <a:off x="793790" y="4514493"/>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They’re useful in real-world tasks like predicting prices, delivery times, or demand.</a:t>
            </a:r>
            <a:endParaRPr lang="en-US" sz="1750" dirty="0"/>
          </a:p>
        </p:txBody>
      </p:sp>
      <p:sp>
        <p:nvSpPr>
          <p:cNvPr id="5" name="Text 3"/>
          <p:cNvSpPr/>
          <p:nvPr/>
        </p:nvSpPr>
        <p:spPr>
          <a:xfrm>
            <a:off x="793790" y="4956691"/>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Squaring errors makes large mistakes stand out—this helps avoid costly failures.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2025-09-14T05:23:04Z</dcterms:created>
  <dcterms:modified xsi:type="dcterms:W3CDTF">2025-09-14T05:23:04Z</dcterms:modified>
</cp:coreProperties>
</file>