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Why do MSE / RMSE penalize large errors more heavily?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 b="0">
                <a:solidFill>
                  <a:srgbClr val="646464"/>
                </a:solidFill>
              </a:rPr>
              <a:t>And when is this desirable?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MSE / RMSE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• MSE (Mean Squared Error):</a:t>
            </a:r>
          </a:p>
          <a:p>
            <a:r>
              <a:rPr sz="2400" b="0">
                <a:solidFill>
                  <a:srgbClr val="000000"/>
                </a:solidFill>
              </a:rPr>
              <a:t>   MSE = (1/n) Σ (y_actual - y_predicted)²</a:t>
            </a:r>
          </a:p>
          <a:p>
            <a:r>
              <a:rPr sz="2400" b="0">
                <a:solidFill>
                  <a:srgbClr val="000000"/>
                </a:solidFill>
              </a:rPr>
              <a:t>   - Average of squared errors</a:t>
            </a:r>
          </a:p>
          <a:p>
            <a:r>
              <a:rPr sz="2400" b="0">
                <a:solidFill>
                  <a:srgbClr val="000000"/>
                </a:solidFill>
              </a:rPr>
              <a:t>   - Larger errors get more weight</a:t>
            </a:r>
          </a:p>
          <a:p/>
          <a:p>
            <a:r>
              <a:rPr sz="2400" b="0">
                <a:solidFill>
                  <a:srgbClr val="000000"/>
                </a:solidFill>
              </a:rPr>
              <a:t>• RMSE (Root Mean Squared Error):</a:t>
            </a:r>
          </a:p>
          <a:p>
            <a:r>
              <a:rPr sz="2400" b="0">
                <a:solidFill>
                  <a:srgbClr val="000000"/>
                </a:solidFill>
              </a:rPr>
              <a:t>   RMSE = √MSE</a:t>
            </a:r>
          </a:p>
          <a:p>
            <a:r>
              <a:rPr sz="2400" b="0">
                <a:solidFill>
                  <a:srgbClr val="000000"/>
                </a:solidFill>
              </a:rPr>
              <a:t>   - Same units as original data</a:t>
            </a:r>
          </a:p>
          <a:p>
            <a:r>
              <a:rPr sz="2400" b="0">
                <a:solidFill>
                  <a:srgbClr val="000000"/>
                </a:solidFill>
              </a:rPr>
              <a:t>   - Easier to interpret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Dataset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• Used in Regression problems (predicting continuous values)</a:t>
            </a:r>
          </a:p>
          <a:p>
            <a:r>
              <a:rPr sz="2400" b="0">
                <a:solidFill>
                  <a:srgbClr val="000000"/>
                </a:solidFill>
              </a:rPr>
              <a:t>• Examples: prices, time, temperature, demand</a:t>
            </a:r>
          </a:p>
          <a:p>
            <a:r>
              <a:rPr sz="2400" b="0">
                <a:solidFill>
                  <a:srgbClr val="000000"/>
                </a:solidFill>
              </a:rPr>
              <a:t>• Not used in Classification (discrete labels)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• Penalize large errors = bigger mistakes cost much more</a:t>
            </a:r>
          </a:p>
          <a:p>
            <a:r>
              <a:rPr sz="2400" b="0">
                <a:solidFill>
                  <a:srgbClr val="000000"/>
                </a:solidFill>
              </a:rPr>
              <a:t>• Due to squaring:</a:t>
            </a:r>
          </a:p>
          <a:p>
            <a:r>
              <a:rPr sz="2400" b="0">
                <a:solidFill>
                  <a:srgbClr val="000000"/>
                </a:solidFill>
              </a:rPr>
              <a:t>   Error = 2 → 4</a:t>
            </a:r>
          </a:p>
          <a:p>
            <a:r>
              <a:rPr sz="2400" b="0">
                <a:solidFill>
                  <a:srgbClr val="000000"/>
                </a:solidFill>
              </a:rPr>
              <a:t>   Error = 10 → 100</a:t>
            </a:r>
          </a:p>
          <a:p>
            <a:r>
              <a:rPr sz="2400" b="0">
                <a:solidFill>
                  <a:srgbClr val="000000"/>
                </a:solidFill>
              </a:rPr>
              <a:t>• Desirable when large mistakes are costly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Actual vs Predicted Delivery Times:</a:t>
            </a:r>
          </a:p>
          <a:p/>
          <a:p>
            <a:r>
              <a:rPr sz="2400" b="0">
                <a:solidFill>
                  <a:srgbClr val="000000"/>
                </a:solidFill>
              </a:rPr>
              <a:t>10 → 11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20 → 21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30 → 31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40 → 41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50 → 51 (Error -1 → 1)</a:t>
            </a:r>
          </a:p>
          <a:p/>
          <a:p>
            <a:r>
              <a:rPr sz="2400" b="0">
                <a:solidFill>
                  <a:srgbClr val="000000"/>
                </a:solidFill>
              </a:rPr>
              <a:t>MSE = 1, RMSE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If one prediction is very wrong:</a:t>
            </a:r>
          </a:p>
          <a:p/>
          <a:p>
            <a:r>
              <a:rPr sz="2400" b="0">
                <a:solidFill>
                  <a:srgbClr val="000000"/>
                </a:solidFill>
              </a:rPr>
              <a:t>10 → 11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20 → 21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30 → 31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40 → 41 (Error -1 → 1)</a:t>
            </a:r>
          </a:p>
          <a:p>
            <a:r>
              <a:rPr sz="2400" b="0">
                <a:solidFill>
                  <a:srgbClr val="000000"/>
                </a:solidFill>
              </a:rPr>
              <a:t>50 → 70 (Error +20 → 400)</a:t>
            </a:r>
          </a:p>
          <a:p/>
          <a:p>
            <a:r>
              <a:rPr sz="2400" b="0">
                <a:solidFill>
                  <a:srgbClr val="000000"/>
                </a:solidFill>
              </a:rPr>
              <a:t>MSE = 80.8, RMSE ≈ 8.98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• Prevents large costly mistakes</a:t>
            </a:r>
          </a:p>
          <a:p>
            <a:r>
              <a:rPr sz="2400" b="0">
                <a:solidFill>
                  <a:srgbClr val="000000"/>
                </a:solidFill>
              </a:rPr>
              <a:t>• Encourages more accurate models</a:t>
            </a:r>
          </a:p>
          <a:p>
            <a:r>
              <a:rPr sz="2400" b="0">
                <a:solidFill>
                  <a:srgbClr val="000000"/>
                </a:solidFill>
              </a:rPr>
              <a:t>• Important when big errors cause:</a:t>
            </a:r>
          </a:p>
          <a:p>
            <a:r>
              <a:rPr sz="2400" b="0">
                <a:solidFill>
                  <a:srgbClr val="000000"/>
                </a:solidFill>
              </a:rPr>
              <a:t>   - Financial loss</a:t>
            </a:r>
          </a:p>
          <a:p>
            <a:r>
              <a:rPr sz="2400" b="0">
                <a:solidFill>
                  <a:srgbClr val="000000"/>
                </a:solidFill>
              </a:rPr>
              <a:t>   - Safety issues</a:t>
            </a:r>
          </a:p>
          <a:p>
            <a:r>
              <a:rPr sz="2400" b="0">
                <a:solidFill>
                  <a:srgbClr val="000000"/>
                </a:solidFill>
              </a:rPr>
              <a:t>   - Poor user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1. Sensitive to outliers</a:t>
            </a:r>
          </a:p>
          <a:p>
            <a:r>
              <a:rPr sz="2400" b="0">
                <a:solidFill>
                  <a:srgbClr val="000000"/>
                </a:solidFill>
              </a:rPr>
              <a:t>2. MSE unit problem (squared units)</a:t>
            </a:r>
          </a:p>
          <a:p>
            <a:r>
              <a:rPr sz="2400" b="0">
                <a:solidFill>
                  <a:srgbClr val="000000"/>
                </a:solidFill>
              </a:rPr>
              <a:t>3. Does not show direction of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Food Delivery App:</a:t>
            </a:r>
          </a:p>
          <a:p/>
          <a:p>
            <a:r>
              <a:rPr sz="2400" b="0">
                <a:solidFill>
                  <a:srgbClr val="000000"/>
                </a:solidFill>
              </a:rPr>
              <a:t>• Actual delivery = 30 min</a:t>
            </a:r>
          </a:p>
          <a:p>
            <a:r>
              <a:rPr sz="2400" b="0">
                <a:solidFill>
                  <a:srgbClr val="000000"/>
                </a:solidFill>
              </a:rPr>
              <a:t>• Prediction = 32 min → Error² = 4 (okay)</a:t>
            </a:r>
          </a:p>
          <a:p>
            <a:r>
              <a:rPr sz="2400" b="0">
                <a:solidFill>
                  <a:srgbClr val="000000"/>
                </a:solidFill>
              </a:rPr>
              <a:t>• Prediction = 60 min → Error² = 900 (huge)</a:t>
            </a:r>
          </a:p>
          <a:p/>
          <a:p>
            <a:r>
              <a:rPr sz="2400" b="0">
                <a:solidFill>
                  <a:srgbClr val="000000"/>
                </a:solidFill>
              </a:rPr>
              <a:t>→ RMSE punishes large errors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000000"/>
                </a:solidFill>
              </a:rPr>
              <a:t>• MSE = average squared error</a:t>
            </a:r>
          </a:p>
          <a:p>
            <a:r>
              <a:rPr sz="2400" b="0">
                <a:solidFill>
                  <a:srgbClr val="000000"/>
                </a:solidFill>
              </a:rPr>
              <a:t>• RMSE = √MSE (same units)</a:t>
            </a:r>
          </a:p>
          <a:p>
            <a:r>
              <a:rPr sz="2400" b="0">
                <a:solidFill>
                  <a:srgbClr val="000000"/>
                </a:solidFill>
              </a:rPr>
              <a:t>• Used in regression tasks</a:t>
            </a:r>
          </a:p>
          <a:p>
            <a:r>
              <a:rPr sz="2400" b="0">
                <a:solidFill>
                  <a:srgbClr val="000000"/>
                </a:solidFill>
              </a:rPr>
              <a:t>• Penalizes large errors more (good for costly mistakes)</a:t>
            </a:r>
          </a:p>
          <a:p>
            <a:r>
              <a:rPr sz="2400" b="0">
                <a:solidFill>
                  <a:srgbClr val="000000"/>
                </a:solidFill>
              </a:rPr>
              <a:t>• Limitations: outliers, squared units</a:t>
            </a:r>
          </a:p>
          <a:p>
            <a:r>
              <a:rPr sz="2400" b="0">
                <a:solidFill>
                  <a:srgbClr val="000000"/>
                </a:solidFill>
              </a:rPr>
              <a:t>• Choose MSE/RMSE when large errors must be minimized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